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1e165e061c74fae" /><Relationship Type="http://schemas.openxmlformats.org/officeDocument/2006/relationships/extended-properties" Target="/docProps/app.xml" Id="R258b5bcb74f54b60" /><Relationship Type="http://schemas.openxmlformats.org/officeDocument/2006/relationships/officeDocument" Target="/ppt/presentation.xml" Id="R46b7d736b4744f8f" /></Relationships>
</file>

<file path=ppt/presentation.xml><?xml version="1.0" encoding="utf-8"?>
<p:presentation xmlns:p="http://schemas.openxmlformats.org/presentationml/2006/main">
  <p:sldMasterIdLst>
    <p:sldMasterId xmlns:r="http://schemas.openxmlformats.org/officeDocument/2006/relationships" id="2147483648" r:id="R9d5739f9727b4e7e"/>
  </p:sldMasterIdLst>
  <p:notesMasterIdLst>
    <p:notesMasterId xmlns:r="http://schemas.openxmlformats.org/officeDocument/2006/relationships" r:id="Rafb2021ee6d44777"/>
  </p:notesMasterIdLst>
  <p:sldIdLst>
    <p:sldId xmlns:r="http://schemas.openxmlformats.org/officeDocument/2006/relationships" id="256" r:id="R67d93fb175dc464d"/>
    <p:sldId xmlns:r="http://schemas.openxmlformats.org/officeDocument/2006/relationships" id="257" r:id="Ree6dc0fd9a6b40c5"/>
    <p:sldId xmlns:r="http://schemas.openxmlformats.org/officeDocument/2006/relationships" id="258" r:id="Rdc7e5256253843ac"/>
    <p:sldId xmlns:r="http://schemas.openxmlformats.org/officeDocument/2006/relationships" id="259" r:id="R1e82f81571264522"/>
    <p:sldId xmlns:r="http://schemas.openxmlformats.org/officeDocument/2006/relationships" id="260" r:id="R8fa34d512cc840a0"/>
    <p:sldId xmlns:r="http://schemas.openxmlformats.org/officeDocument/2006/relationships" id="261" r:id="R1d2489544c454ab9"/>
    <p:sldId xmlns:r="http://schemas.openxmlformats.org/officeDocument/2006/relationships" id="262" r:id="Rac9e1430d2e84a6b"/>
    <p:sldId xmlns:r="http://schemas.openxmlformats.org/officeDocument/2006/relationships" id="263" r:id="R6077dc6a991d4365"/>
    <p:sldId xmlns:r="http://schemas.openxmlformats.org/officeDocument/2006/relationships" id="264" r:id="R857955cd4b27404b"/>
    <p:sldId xmlns:r="http://schemas.openxmlformats.org/officeDocument/2006/relationships" id="265" r:id="Rec687d66a2a944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41fedddf7941cf" /><Relationship Type="http://schemas.openxmlformats.org/officeDocument/2006/relationships/slideMaster" Target="/ppt/slideMasters/slideMaster1.xml" Id="R9d5739f9727b4e7e" /><Relationship Type="http://schemas.openxmlformats.org/officeDocument/2006/relationships/notesMaster" Target="/ppt/notesMasters/notesMaster1.xml" Id="Rafb2021ee6d44777" /><Relationship Type="http://schemas.openxmlformats.org/officeDocument/2006/relationships/presProps" Target="/ppt/presProps.xml" Id="R1990315fbde94aae" /><Relationship Type="http://schemas.openxmlformats.org/officeDocument/2006/relationships/tableStyles" Target="/ppt/tableStyles.xml" Id="Ra759c477276544e0" /><Relationship Type="http://schemas.openxmlformats.org/officeDocument/2006/relationships/slide" Target="/ppt/slides/slide1.xml" Id="R67d93fb175dc464d" /><Relationship Type="http://schemas.openxmlformats.org/officeDocument/2006/relationships/slide" Target="/ppt/slides/slide2.xml" Id="Ree6dc0fd9a6b40c5" /><Relationship Type="http://schemas.openxmlformats.org/officeDocument/2006/relationships/slide" Target="/ppt/slides/slide3.xml" Id="Rdc7e5256253843ac" /><Relationship Type="http://schemas.openxmlformats.org/officeDocument/2006/relationships/slide" Target="/ppt/slides/slide4.xml" Id="R1e82f81571264522" /><Relationship Type="http://schemas.openxmlformats.org/officeDocument/2006/relationships/slide" Target="/ppt/slides/slide5.xml" Id="R8fa34d512cc840a0" /><Relationship Type="http://schemas.openxmlformats.org/officeDocument/2006/relationships/slide" Target="/ppt/slides/slide6.xml" Id="R1d2489544c454ab9" /><Relationship Type="http://schemas.openxmlformats.org/officeDocument/2006/relationships/slide" Target="/ppt/slides/slide7.xml" Id="Rac9e1430d2e84a6b" /><Relationship Type="http://schemas.openxmlformats.org/officeDocument/2006/relationships/slide" Target="/ppt/slides/slide8.xml" Id="R6077dc6a991d4365" /><Relationship Type="http://schemas.openxmlformats.org/officeDocument/2006/relationships/slide" Target="/ppt/slides/slide9.xml" Id="R857955cd4b27404b" /><Relationship Type="http://schemas.openxmlformats.org/officeDocument/2006/relationships/slide" Target="/ppt/slides/slide10.xml" Id="Rec687d66a2a944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5bf9aafbfc4d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2097a2569949ea" /><Relationship Type="http://schemas.openxmlformats.org/officeDocument/2006/relationships/notesMaster" Target="/ppt/notesMasters/notesMaster1.xml" Id="R471a91c6fcd346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3dd194f3ab4cce" /><Relationship Type="http://schemas.openxmlformats.org/officeDocument/2006/relationships/notesMaster" Target="/ppt/notesMasters/notesMaster1.xml" Id="Rd9e0e3c8f1fd44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30d8828b854dfc" /><Relationship Type="http://schemas.openxmlformats.org/officeDocument/2006/relationships/notesMaster" Target="/ppt/notesMasters/notesMaster1.xml" Id="Rfe86a2ed53234c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c33993d56740d4" /><Relationship Type="http://schemas.openxmlformats.org/officeDocument/2006/relationships/notesMaster" Target="/ppt/notesMasters/notesMaster1.xml" Id="R6cf17dd0737a4e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9e8a102d32413f" /><Relationship Type="http://schemas.openxmlformats.org/officeDocument/2006/relationships/notesMaster" Target="/ppt/notesMasters/notesMaster1.xml" Id="R5cb4f51a83f345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e9254946654891" /><Relationship Type="http://schemas.openxmlformats.org/officeDocument/2006/relationships/notesMaster" Target="/ppt/notesMasters/notesMaster1.xml" Id="R84b9ca5907b941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7618a1f23749a9" /><Relationship Type="http://schemas.openxmlformats.org/officeDocument/2006/relationships/notesMaster" Target="/ppt/notesMasters/notesMaster1.xml" Id="R2ce6d887e1a941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540ee059174309" /><Relationship Type="http://schemas.openxmlformats.org/officeDocument/2006/relationships/notesMaster" Target="/ppt/notesMasters/notesMaster1.xml" Id="Re4bf3298d6a641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e6e9d7dbdf4746" /><Relationship Type="http://schemas.openxmlformats.org/officeDocument/2006/relationships/notesMaster" Target="/ppt/notesMasters/notesMaster1.xml" Id="R41a8f880ee234a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3e5c00204d499c" /><Relationship Type="http://schemas.openxmlformats.org/officeDocument/2006/relationships/notesMaster" Target="/ppt/notesMasters/notesMaster1.xml" Id="Rabd997d6e51c46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Presentar el caso como una decisión comercial: a qué clientes conviene contactar después de la primera compra. El trabajo integra preparación de datos, comparación de modelos y propuesta de operación. El hallazgo es que el modelo actual no mejora la selección de clientes de forma útil. Eso permite evitar una inversión sin respaldo y definir qué validar antes de activarlo.</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y 20 segundos. La oportunidad es priorizar contactos de recompra. Una compra adicional es una orden distinta; varios productos de una misma orden no cuentan como recompra. La predicción usa únicamente información conocida al crear la primera orden. Después se observa si aparece otra en 60 días. Quienes aún no completaron ese plazo no se consideran negativos. El objetivo implementado es orden creada, con todos los estados. Se incluye sensibilidad sin futuras cancelaciones. Antes de producción se acordaría con negocio si la compra debe ser pagada o generar ingreso neto.</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y 30 segundos. SQL en BigQuery construye una fila por cliente. El origen contiene 124596 órdenes y la base anterior al corte contiene 79634 clientes. Cero duplicados y registros sin correspondencia en los controles ejecutados. Detecté 78579 ítems con fecha posterior a su orden y los excluí de las variables disponibles en la primera compra. Agregué ítems y navegación por cliente antes de cruzar, para evitar multiplicar filas. El corte excluye el último día parcial del dataset. 8893 clientes no tienen ventana de 60 días, y se separan de los 70741 usados para análisis y evaluación. El catálogo se considera estático, y se necesita tiempo de ingesta en una implementación real.</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y 30 segundos. La tasa global de recompra es 7,2% entre 70741 clientes maduros, con 5094 recompradores. El gráfico muestra cohortes por mes de primera orden, limitadas a seguimiento completo; diciembre solo incluye primeras compras maduras al corte. La mediana de tiempo entre compras es 29 días entre quienes recompran en 60 días. Los segmentos por cantidad y canal muestran diferencias pequeñas y descriptivas. Por ejemplo una orden de un ítem tiene 7,37%, dos ítems 7,03% y tres o más 6,34%. No se interpreta eso como causalidad ni una regla para descontar. Los cinco gráficos completos están en el notebook.</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y 20 segundos. Se separan tres bloques: entrenamiento con etiquetas maduras antes de enero 2024, validación enero-junio 2024 y test septiembre-diciembre 2024. Se dejan 60 días para conocer recompra antes del bloque siguiente. Se comparan una referencia constante, regresión logística y gradient boosting. El segundo bloque elige el modelo y umbral. El tercero comprueba resultado final. Las transformaciones se ajustan solo en entrenamiento. La tasa cambia 4,4 a 8,6 a 15,9%, lo que dificulta trasladar probabilidades. No se usa una división aleatoria porque no representa tan bien clientes futuros.</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minutos. Este es el hallazgo central. En test hay 9390 clientes y 1496 recompradores. El top20 tiene 1878 clientes y 300 recompradores, captura 20,05% del total. Una selección aleatoria capturaría aproximadamente 20%. La precisión del grupo es15,97% y la tasa general15,93%. Lift1,003 y un intervalo descriptivo0,912 a1,096. La tabla AP mide capacidad de ordenar compradores: cuanto mayor mejor, pero aquí la ventaja no es consistente. Boosting se eligió por validación0,0862 vs referencia0,0860 y logística0,0822. Se conserva esa elección aun cuando logística tenga AP test ligeramente mayor, para no elegir mirando el examen final. El recall casi100% no implica éxito porque el umbral marca casi todos positivos. Recomendación: no activar el modelo actual.</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y 20 segundos. La recomendación cuida el presupuesto comercial. Primero mejorar la señal y verificar estabilidad. Después, si se obtiene capacidad predictiva útil, realizar un piloto aleatorizado con control y contacto de bajo costo. Comparar compradores adicionales y margen a60 días, descontando promociones, contacto y devoluciones. No prometer un ROI sin costos ni efecto medido. La capacidad del20% es ilustrativa, no un presupuesto real recibido. No activar el candidato actual para repartir cupones.</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y 40 segundos. Solo diseño, no hay recursos desplegados. El caso exige fuentes S3. Glue carga y transforma a Parquet en S3curated, aplicando las reglas de primera compra y disponibilidad temporal. SageMaker Batch Transform usa un modelo aprobado y guarda resultados en S3predictions para Athena y CRM. EventBridge Scheduler programa y StepFunctions coordina. El entrenamiento mensual usa solo etiquetas maduras y registro de modelos. GitHub versiona código, CI empaqueta ECR con OIDC. Processing y CloudWatch monitorean. La necesidad de baja latencia no está definida, por eso se propone batch diario en lugar de endpoint permanente. Referencias oficiales en notebook: AWS Batch Transform y EventBridge Scheduler con StepFunctions.</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y 20 segundos. El pipelinePython deja parámetros de corte y períodos, valida antes de entrenar y guarda predicciones reemplazando snapshot sin duplicados. Se probó ejecución completa y cinco checks. En cloud, revisar calidad por lote, cambios de datos semanalmente y desempeño cuando maduran60días de etiquetas. Processing calcula métricas y CloudWatch alerta. La clavecliente,t0,versiones y manifiesto controlan reintentos. CódigoSQL yPython se versionan en GitHub. Modelo y transformaciones juntos, hash de datos y versión. Snowflake opcional mediante stageS3,COPY INTO oSnowpipe,Tasks yMERGE. No duplicar dueños de transformación. La actualización mensual no implica aprobación automática.</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Cerrar con recomendacionespriorizadas. Acordar compra creada versuspagada y documentar estados. Mejorar señales disponibles en primera compra e historial de catálogo e ingesta. Validar nuevascohortes y calibración. Solo después realizarpiloto con control para medir margenincremental. Eltrabajo entregaconsultasSQL,notebookconresultados,modelos,predicciones y diseñocloud. Los resultados de ecommerceficticio no prueban desempeño enBelcorp. Noexistemínimodesempeño en elcaso y la decisión de no promover es parte delcriterioMLE/MLOps. El repositorio contiene detalles para auditar las decisiones y cincofiguras.</a:t>
            </a:r>
          </a:p>
          <a:p xmlns:a="http://schemas.openxmlformats.org/drawingml/2006/main">
            <a:r>
              <a:t>Fuente: BC - MLE.pdf y dataset bussiness-case-tyc.bussiness_case_ecommerce. Extracción 25/10/2026. Corte exclusivo 14/02/2025 UTC. Datos de ecommerce ficticio, no de Belcorp.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ad303df95045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5e6d8a1cba4d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9f389b58b847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5ea5041c614f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28dbb9d74148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8aeccee25a4b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C9499F-13B6-4324-9DC2-D3F7507186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6DF0D4-A6A0-4A26-AAB6-6AAB931FF7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F64FC7-3D08-4A74-AC56-E1310667DB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B3C8B5-1DBB-4CA1-A138-5913ACF1E6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35C6D6-65DD-4E0A-A70C-CC721E0EF3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C6D475-CFD2-4DA5-9421-1FE3850EDA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33698C-A471-4F49-B030-11628FFE8D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1771B6-3AEC-4BB3-ABF8-D5A749AB93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649E23-E555-4F5B-94B3-F96AB16F00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8A2B95-0824-463E-86D5-B0610AA023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24b0970b904a1a" /><Relationship Type="http://schemas.openxmlformats.org/officeDocument/2006/relationships/slideLayout" Target="/ppt/slideLayouts/slideLayout1.xml" Id="R785fe995489d41a8" /><Relationship Type="http://schemas.openxmlformats.org/officeDocument/2006/relationships/slideLayout" Target="/ppt/slideLayouts/slideLayout2.xml" Id="R1f6d564427214c95" /><Relationship Type="http://schemas.openxmlformats.org/officeDocument/2006/relationships/slideLayout" Target="/ppt/slideLayouts/slideLayout3.xml" Id="R82942b14170b428b" /><Relationship Type="http://schemas.openxmlformats.org/officeDocument/2006/relationships/slideLayout" Target="/ppt/slideLayouts/slideLayout4.xml" Id="R2fb26bbbc5834b7c" /><Relationship Type="http://schemas.openxmlformats.org/officeDocument/2006/relationships/slideLayout" Target="/ppt/slideLayouts/slideLayout5.xml" Id="R7f18d376c25e4388" /><Relationship Type="http://schemas.openxmlformats.org/officeDocument/2006/relationships/slideLayout" Target="/ppt/slideLayouts/slideLayout6.xml" Id="R0956595de09640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5fe995489d41a8"/>
    <p:sldLayoutId xmlns:r="http://schemas.openxmlformats.org/officeDocument/2006/relationships" id="2147483650" r:id="R1f6d564427214c95"/>
    <p:sldLayoutId xmlns:r="http://schemas.openxmlformats.org/officeDocument/2006/relationships" id="2147483651" r:id="R82942b14170b428b"/>
    <p:sldLayoutId xmlns:r="http://schemas.openxmlformats.org/officeDocument/2006/relationships" id="2147483652" r:id="R2fb26bbbc5834b7c"/>
    <p:sldLayoutId xmlns:r="http://schemas.openxmlformats.org/officeDocument/2006/relationships" id="2147483653" r:id="R7f18d376c25e4388"/>
    <p:sldLayoutId xmlns:r="http://schemas.openxmlformats.org/officeDocument/2006/relationships" id="2147483654" r:id="R0956595de09640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32705d55574025" /><Relationship Type="http://schemas.openxmlformats.org/officeDocument/2006/relationships/notesSlide" Target="/ppt/notesSlides/notesSlide1.xml" Id="Rfa4e1175fa734a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bf46a1982e488f" /><Relationship Type="http://schemas.openxmlformats.org/officeDocument/2006/relationships/notesSlide" Target="/ppt/notesSlides/notesSlide2.xml" Id="R844ec5f14ea549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1701c95c714ce1" /><Relationship Type="http://schemas.openxmlformats.org/officeDocument/2006/relationships/notesSlide" Target="/ppt/notesSlides/notesSlide3.xml" Id="R64f33c66c4d04c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2ef8f76c3949d8" /><Relationship Type="http://schemas.openxmlformats.org/officeDocument/2006/relationships/chart" Target="/ppt/slides/charts/chart1.xml" Id="Rfc382cbc33074077" /><Relationship Type="http://schemas.openxmlformats.org/officeDocument/2006/relationships/notesSlide" Target="/ppt/notesSlides/notesSlide4.xml" Id="R0f15c46fc11b45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2ea1353c004ee6" /><Relationship Type="http://schemas.openxmlformats.org/officeDocument/2006/relationships/notesSlide" Target="/ppt/notesSlides/notesSlide5.xml" Id="Rb90e145fdf3842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1e420695e24e2e" /><Relationship Type="http://schemas.openxmlformats.org/officeDocument/2006/relationships/notesSlide" Target="/ppt/notesSlides/notesSlide6.xml" Id="R11131a22661545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02facd2f8734d21" /><Relationship Type="http://schemas.openxmlformats.org/officeDocument/2006/relationships/notesSlide" Target="/ppt/notesSlides/notesSlide7.xml" Id="Reb14ed34f24f4c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555c7aac3148b3" /><Relationship Type="http://schemas.openxmlformats.org/officeDocument/2006/relationships/notesSlide" Target="/ppt/notesSlides/notesSlide8.xml" Id="Ra6dab6700dfc44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0289d7939eb4f1f" /><Relationship Type="http://schemas.openxmlformats.org/officeDocument/2006/relationships/notesSlide" Target="/ppt/notesSlides/notesSlide9.xml" Id="Raa833af14d8d42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a3d7b679f0478a" /><Relationship Type="http://schemas.openxmlformats.org/officeDocument/2006/relationships/notesSlide" Target="/ppt/notesSlides/notesSlide10.xml" Id="R20416aaa7bb34a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Recompra</c:v>
          </c:tx>
          <c:spPr>
            <a:solidFill xmlns:a="http://schemas.openxmlformats.org/drawingml/2006/main">
              <a:srgbClr val="9A315F"/>
            </a:solidFill>
          </c:spPr>
          <c:marker>
            <c:symbol val="none"/>
          </c:marker>
          <c:cat>
            <c:strRef>
              <c:f>'Chart Data'!$A$2:$A$13</c:f>
              <c:strCache>
                <c:ptCount val="12"/>
                <c:pt idx="0">
                  <c:v>2024-01</c:v>
                </c:pt>
                <c:pt idx="1">
                  <c:v>2024-02</c:v>
                </c:pt>
                <c:pt idx="2">
                  <c:v>2024-03</c:v>
                </c:pt>
                <c:pt idx="3">
                  <c:v>2024-04</c:v>
                </c:pt>
                <c:pt idx="4">
                  <c:v>2024-05</c:v>
                </c:pt>
                <c:pt idx="5">
                  <c:v>2024-06</c:v>
                </c:pt>
                <c:pt idx="6">
                  <c:v>2024-07</c:v>
                </c:pt>
                <c:pt idx="7">
                  <c:v>2024-08</c:v>
                </c:pt>
                <c:pt idx="8">
                  <c:v>2024-09</c:v>
                </c:pt>
                <c:pt idx="9">
                  <c:v>2024-10</c:v>
                </c:pt>
                <c:pt idx="10">
                  <c:v>2024-11</c:v>
                </c:pt>
                <c:pt idx="11">
                  <c:v>2024-12</c:v>
                </c:pt>
              </c:strCache>
            </c:strRef>
          </c:cat>
          <c:val>
            <c:numRef>
              <c:f>'Chart Data'!$B$2:$B$13</c:f>
              <c:numCache>
                <c:formatCode>0%</c:formatCode>
                <c:ptCount val="12"/>
                <c:pt idx="0">
                  <c:v>0.083561</c:v>
                </c:pt>
                <c:pt idx="1">
                  <c:v>0.07649</c:v>
                </c:pt>
                <c:pt idx="2">
                  <c:v>0.074761</c:v>
                </c:pt>
                <c:pt idx="3">
                  <c:v>0.090196</c:v>
                </c:pt>
                <c:pt idx="4">
                  <c:v>0.089412</c:v>
                </c:pt>
                <c:pt idx="5">
                  <c:v>0.099157</c:v>
                </c:pt>
                <c:pt idx="6">
                  <c:v>0.103237</c:v>
                </c:pt>
                <c:pt idx="7">
                  <c:v>0.119097</c:v>
                </c:pt>
                <c:pt idx="8">
                  <c:v>0.127056</c:v>
                </c:pt>
                <c:pt idx="9">
                  <c:v>0.15258</c:v>
                </c:pt>
                <c:pt idx="10">
                  <c:v>0.175509</c:v>
                </c:pt>
                <c:pt idx="11">
                  <c:v>0.193211</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7"/>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AF9F7"/>
        </a:solidFill>
      </c:spPr>
    </c:plotArea>
    <c:plotVisOnly val="1"/>
  </c:chart>
  <c:spPr>
    <a:solidFill xmlns:a="http://schemas.openxmlformats.org/drawingml/2006/main">
      <a:srgbClr val="FAF9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C4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EF8F0F-E419-4EAF-87B7-1A7D3ADB5FC9}"/>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Recompra a 60 días</a:t>
            </a:r>
          </a:p>
        </p:txBody>
      </p:sp>
      <p:sp>
        <p:nvSpPr>
          <p:cNvPr id="2" name="">
            <a:extLst xmlns:a="http://schemas.openxmlformats.org/drawingml/2006/main">
              <a:ext uri="{FF2B5EF4-FFF2-40B4-BE49-F238E27FC236}">
                <a16:creationId xmlns:a16="http://schemas.microsoft.com/office/drawing/2014/main" id="{A4D10EE0-7AE2-4226-B7E3-B13257C61203}"/>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3" name="">
            <a:extLst xmlns:a="http://schemas.openxmlformats.org/drawingml/2006/main">
              <a:ext uri="{FF2B5EF4-FFF2-40B4-BE49-F238E27FC236}">
                <a16:creationId xmlns:a16="http://schemas.microsoft.com/office/drawing/2014/main" id="{C1AEB4DB-B293-41EE-8261-C91E84DF567D}"/>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2285AB8-7D02-4FA1-A989-C490F9C375A7}"/>
              </a:ext>
            </a:extLst>
          </p:cNvPr>
          <p:cNvSpPr>
            <a:spLocks xmlns:a="http://schemas.openxmlformats.org/drawingml/2006/main" noGrp="1"/>
          </p:cNvSpPr>
          <p:nvPr/>
        </p:nvSpPr>
        <p:spPr>
          <a:xfrm xmlns:a="http://schemas.openxmlformats.org/drawingml/2006/main">
            <a:off x="685800" y="1666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E5B6CA"/>
                </a:solidFill>
                <a:latin typeface="Arial"/>
                <a:ea typeface="Arial"/>
                <a:cs typeface="Arial"/>
              </a:defRPr>
            </a:defPPr>
            <a:lvl1pPr>
              <a:defRPr sz="1875" b="0">
                <a:solidFill>
                  <a:srgbClr val="E5B6CA"/>
                </a:solidFill>
                <a:latin typeface="Arial"/>
                <a:ea typeface="Arial"/>
                <a:cs typeface="Arial"/>
              </a:defRPr>
            </a:lvl1pPr>
            <a:lvl2pPr>
              <a:defRPr sz="1875" b="0">
                <a:solidFill>
                  <a:srgbClr val="E5B6CA"/>
                </a:solidFill>
                <a:latin typeface="Arial"/>
                <a:ea typeface="Arial"/>
                <a:cs typeface="Arial"/>
              </a:defRPr>
            </a:lvl2pPr>
            <a:lvl3pPr>
              <a:defRPr sz="1875" b="0">
                <a:solidFill>
                  <a:srgbClr val="E5B6CA"/>
                </a:solidFill>
                <a:latin typeface="Arial"/>
                <a:ea typeface="Arial"/>
                <a:cs typeface="Arial"/>
              </a:defRPr>
            </a:lvl3pPr>
            <a:lvl4pPr>
              <a:defRPr sz="1875" b="0">
                <a:solidFill>
                  <a:srgbClr val="E5B6CA"/>
                </a:solidFill>
                <a:latin typeface="Arial"/>
                <a:ea typeface="Arial"/>
                <a:cs typeface="Arial"/>
              </a:defRPr>
            </a:lvl4pPr>
            <a:lvl5pPr>
              <a:defRPr sz="1875" b="0">
                <a:solidFill>
                  <a:srgbClr val="E5B6CA"/>
                </a:solidFill>
                <a:latin typeface="Arial"/>
                <a:ea typeface="Arial"/>
                <a:cs typeface="Arial"/>
              </a:defRPr>
            </a:lvl5pPr>
            <a:lvl6pPr>
              <a:defRPr sz="1875" b="0">
                <a:solidFill>
                  <a:srgbClr val="E5B6CA"/>
                </a:solidFill>
                <a:latin typeface="Arial"/>
                <a:ea typeface="Arial"/>
                <a:cs typeface="Arial"/>
              </a:defRPr>
            </a:lvl6pPr>
            <a:lvl7pPr>
              <a:defRPr sz="1875" b="0">
                <a:solidFill>
                  <a:srgbClr val="E5B6CA"/>
                </a:solidFill>
                <a:latin typeface="Arial"/>
                <a:ea typeface="Arial"/>
                <a:cs typeface="Arial"/>
              </a:defRPr>
            </a:lvl7pPr>
            <a:lvl8pPr>
              <a:defRPr sz="1875" b="0">
                <a:solidFill>
                  <a:srgbClr val="E5B6CA"/>
                </a:solidFill>
                <a:latin typeface="Arial"/>
                <a:ea typeface="Arial"/>
                <a:cs typeface="Arial"/>
              </a:defRPr>
            </a:lvl8pPr>
            <a:lvl9pPr>
              <a:defRPr sz="1875" b="0">
                <a:solidFill>
                  <a:srgbClr val="E5B6CA"/>
                </a:solidFill>
                <a:latin typeface="Arial"/>
                <a:ea typeface="Arial"/>
                <a:cs typeface="Arial"/>
              </a:defRPr>
            </a:lvl9pPr>
          </a:lstStyle>
          <a:p xmlns:a="http://schemas.openxmlformats.org/drawingml/2006/main">
            <a:pPr>
              <a:defRPr sz="1875" b="0">
                <a:solidFill>
                  <a:srgbClr val="E5B6CA"/>
                </a:solidFill>
                <a:latin typeface="Arial"/>
                <a:ea typeface="Arial"/>
                <a:cs typeface="Arial"/>
              </a:defRPr>
            </a:pPr>
            <a:r>
              <a:rPr sz="1875" b="0">
                <a:solidFill>
                  <a:srgbClr val="E5B6CA"/>
                </a:solidFill>
                <a:latin typeface="Arial"/>
                <a:ea typeface="Arial"/>
                <a:cs typeface="Arial"/>
              </a:rPr>
              <a:t>The Look ecommerce</a:t>
            </a:r>
          </a:p>
        </p:txBody>
      </p:sp>
      <p:sp>
        <p:nvSpPr>
          <p:cNvPr id="5" name="">
            <a:extLst xmlns:a="http://schemas.openxmlformats.org/drawingml/2006/main">
              <a:ext uri="{FF2B5EF4-FFF2-40B4-BE49-F238E27FC236}">
                <a16:creationId xmlns:a16="http://schemas.microsoft.com/office/drawing/2014/main" id="{A29C7A82-C3E6-41F5-B759-5BB54CECB10E}"/>
              </a:ext>
            </a:extLst>
          </p:cNvPr>
          <p:cNvSpPr>
            <a:spLocks xmlns:a="http://schemas.openxmlformats.org/drawingml/2006/main" noGrp="1"/>
          </p:cNvSpPr>
          <p:nvPr/>
        </p:nvSpPr>
        <p:spPr>
          <a:xfrm xmlns:a="http://schemas.openxmlformats.org/drawingml/2006/main">
            <a:off x="685800" y="23622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quién contactar después</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de su primera compra?</a:t>
            </a:r>
          </a:p>
        </p:txBody>
      </p:sp>
      <p:sp>
        <p:nvSpPr>
          <p:cNvPr id="6" name="">
            <a:extLst xmlns:a="http://schemas.openxmlformats.org/drawingml/2006/main">
              <a:ext uri="{FF2B5EF4-FFF2-40B4-BE49-F238E27FC236}">
                <a16:creationId xmlns:a16="http://schemas.microsoft.com/office/drawing/2014/main" id="{D2E5CB70-1C10-4975-BA2F-C8AF0D136FE3}"/>
              </a:ext>
            </a:extLst>
          </p:cNvPr>
          <p:cNvSpPr>
            <a:spLocks xmlns:a="http://schemas.openxmlformats.org/drawingml/2006/main" noGrp="1"/>
          </p:cNvSpPr>
          <p:nvPr/>
        </p:nvSpPr>
        <p:spPr>
          <a:xfrm xmlns:a="http://schemas.openxmlformats.org/drawingml/2006/main">
            <a:off x="685800" y="4191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Evidencia para decidir una campaña de recompra</a:t>
            </a:r>
          </a:p>
        </p:txBody>
      </p:sp>
      <p:sp>
        <p:nvSpPr>
          <p:cNvPr id="7" name="">
            <a:extLst xmlns:a="http://schemas.openxmlformats.org/drawingml/2006/main">
              <a:ext uri="{FF2B5EF4-FFF2-40B4-BE49-F238E27FC236}">
                <a16:creationId xmlns:a16="http://schemas.microsoft.com/office/drawing/2014/main" id="{0E3D8B4B-658F-483C-BF55-D2253896C6FB}"/>
              </a:ext>
            </a:extLst>
          </p:cNvPr>
          <p:cNvSpPr>
            <a:spLocks xmlns:a="http://schemas.openxmlformats.org/drawingml/2006/main" noGrp="1"/>
          </p:cNvSpPr>
          <p:nvPr/>
        </p:nvSpPr>
        <p:spPr>
          <a:xfrm xmlns:a="http://schemas.openxmlformats.org/drawingml/2006/main">
            <a:off x="685800" y="54102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Adianet Hurtado Quispe</a:t>
            </a:r>
          </a:p>
        </p:txBody>
      </p:sp>
      <p:sp>
        <p:nvSpPr>
          <p:cNvPr id="8" name="">
            <a:extLst xmlns:a="http://schemas.openxmlformats.org/drawingml/2006/main">
              <a:ext uri="{FF2B5EF4-FFF2-40B4-BE49-F238E27FC236}">
                <a16:creationId xmlns:a16="http://schemas.microsoft.com/office/drawing/2014/main" id="{CDE02426-C4DD-4CE8-89F2-FF41DCA2A962}"/>
              </a:ext>
            </a:extLst>
          </p:cNvPr>
          <p:cNvSpPr>
            <a:spLocks xmlns:a="http://schemas.openxmlformats.org/drawingml/2006/main" noGrp="1"/>
          </p:cNvSpPr>
          <p:nvPr/>
        </p:nvSpPr>
        <p:spPr>
          <a:xfrm xmlns:a="http://schemas.openxmlformats.org/drawingml/2006/main">
            <a:off x="685800" y="59340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D3DFE7"/>
                </a:solidFill>
                <a:latin typeface="Arial"/>
                <a:ea typeface="Arial"/>
                <a:cs typeface="Arial"/>
              </a:defRPr>
            </a:defPPr>
            <a:lvl1pPr>
              <a:defRPr sz="1650" b="0">
                <a:solidFill>
                  <a:srgbClr val="D3DFE7"/>
                </a:solidFill>
                <a:latin typeface="Arial"/>
                <a:ea typeface="Arial"/>
                <a:cs typeface="Arial"/>
              </a:defRPr>
            </a:lvl1pPr>
            <a:lvl2pPr>
              <a:defRPr sz="1650" b="0">
                <a:solidFill>
                  <a:srgbClr val="D3DFE7"/>
                </a:solidFill>
                <a:latin typeface="Arial"/>
                <a:ea typeface="Arial"/>
                <a:cs typeface="Arial"/>
              </a:defRPr>
            </a:lvl2pPr>
            <a:lvl3pPr>
              <a:defRPr sz="1650" b="0">
                <a:solidFill>
                  <a:srgbClr val="D3DFE7"/>
                </a:solidFill>
                <a:latin typeface="Arial"/>
                <a:ea typeface="Arial"/>
                <a:cs typeface="Arial"/>
              </a:defRPr>
            </a:lvl3pPr>
            <a:lvl4pPr>
              <a:defRPr sz="1650" b="0">
                <a:solidFill>
                  <a:srgbClr val="D3DFE7"/>
                </a:solidFill>
                <a:latin typeface="Arial"/>
                <a:ea typeface="Arial"/>
                <a:cs typeface="Arial"/>
              </a:defRPr>
            </a:lvl4pPr>
            <a:lvl5pPr>
              <a:defRPr sz="1650" b="0">
                <a:solidFill>
                  <a:srgbClr val="D3DFE7"/>
                </a:solidFill>
                <a:latin typeface="Arial"/>
                <a:ea typeface="Arial"/>
                <a:cs typeface="Arial"/>
              </a:defRPr>
            </a:lvl5pPr>
            <a:lvl6pPr>
              <a:defRPr sz="1650" b="0">
                <a:solidFill>
                  <a:srgbClr val="D3DFE7"/>
                </a:solidFill>
                <a:latin typeface="Arial"/>
                <a:ea typeface="Arial"/>
                <a:cs typeface="Arial"/>
              </a:defRPr>
            </a:lvl6pPr>
            <a:lvl7pPr>
              <a:defRPr sz="1650" b="0">
                <a:solidFill>
                  <a:srgbClr val="D3DFE7"/>
                </a:solidFill>
                <a:latin typeface="Arial"/>
                <a:ea typeface="Arial"/>
                <a:cs typeface="Arial"/>
              </a:defRPr>
            </a:lvl7pPr>
            <a:lvl8pPr>
              <a:defRPr sz="1650" b="0">
                <a:solidFill>
                  <a:srgbClr val="D3DFE7"/>
                </a:solidFill>
                <a:latin typeface="Arial"/>
                <a:ea typeface="Arial"/>
                <a:cs typeface="Arial"/>
              </a:defRPr>
            </a:lvl8pPr>
            <a:lvl9pPr>
              <a:defRPr sz="1650" b="0">
                <a:solidFill>
                  <a:srgbClr val="D3DFE7"/>
                </a:solidFill>
                <a:latin typeface="Arial"/>
                <a:ea typeface="Arial"/>
                <a:cs typeface="Arial"/>
              </a:defRPr>
            </a:lvl9pPr>
          </a:lstStyle>
          <a:p xmlns:a="http://schemas.openxmlformats.org/drawingml/2006/main">
            <a:pPr>
              <a:defRPr sz="1650" b="0">
                <a:solidFill>
                  <a:srgbClr val="D3DFE7"/>
                </a:solidFill>
                <a:latin typeface="Arial"/>
                <a:ea typeface="Arial"/>
                <a:cs typeface="Arial"/>
              </a:defRPr>
            </a:pPr>
            <a:r>
              <a:rPr sz="1650" b="0">
                <a:solidFill>
                  <a:srgbClr val="D3DFE7"/>
                </a:solidFill>
                <a:latin typeface="Arial"/>
                <a:ea typeface="Arial"/>
                <a:cs typeface="Arial"/>
              </a:rPr>
              <a:t>Caso Machine Learning Engineer  ·  26 de octubre de 2026</a:t>
            </a:r>
          </a:p>
        </p:txBody>
      </p:sp>
    </p:spTree>
    <p:extLst>
      <p:ext uri="{BB962C8B-B14F-4D97-AF65-F5344CB8AC3E}">
        <p14:creationId xmlns:p14="http://schemas.microsoft.com/office/powerpoint/2010/main" val="1196666509"/>
      </p:ext>
    </p:extLst>
  </p:cSld>
</p:sld>
</file>

<file path=ppt/slides/slide2.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2A6408-5C49-4CD9-A0B9-5A28230250D9}"/>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La decisión comercial y su alcance</a:t>
            </a:r>
          </a:p>
        </p:txBody>
      </p:sp>
      <p:sp>
        <p:nvSpPr>
          <p:cNvPr id="2" name="">
            <a:extLst xmlns:a="http://schemas.openxmlformats.org/drawingml/2006/main">
              <a:ext uri="{FF2B5EF4-FFF2-40B4-BE49-F238E27FC236}">
                <a16:creationId xmlns:a16="http://schemas.microsoft.com/office/drawing/2014/main" id="{3B868377-51D3-474B-9C60-DB7344A651F8}"/>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Estimar quién realizará una nueva orden en los 60 días siguientes a su primera compra.</a:t>
            </a:r>
          </a:p>
        </p:txBody>
      </p:sp>
      <p:sp>
        <p:nvSpPr>
          <p:cNvPr id="3" name="">
            <a:extLst xmlns:a="http://schemas.openxmlformats.org/drawingml/2006/main">
              <a:ext uri="{FF2B5EF4-FFF2-40B4-BE49-F238E27FC236}">
                <a16:creationId xmlns:a16="http://schemas.microsoft.com/office/drawing/2014/main" id="{9633A349-CF5B-4F6F-8DC9-F228556E1D66}"/>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2C807E37-86D0-45AF-AE67-CF5C92C45410}"/>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ED3F66F9-8D22-4725-83DD-E475B68BF2F7}"/>
              </a:ext>
            </a:extLst>
          </p:cNvPr>
          <p:cNvGraphicFramePr/>
          <p:nvPr/>
        </p:nvGraphicFramePr>
        <p:xfrm>
          <a:off xmlns:a="http://schemas.openxmlformats.org/drawingml/2006/main" x="685800" y="2676525"/>
          <a:ext xmlns:a="http://schemas.openxmlformats.org/drawingml/2006/main" cx="10820400" cy="2333625"/>
        </p:xfrm>
        <a:graphic xmlns:a="http://schemas.openxmlformats.org/drawingml/2006/main">
          <a:graphicData uri="http://schemas.openxmlformats.org/drawingml/2006/table">
            <a:tbl>
              <a:tblPr/>
              <a:tblGrid>
                <a:gridCol w="3333750"/>
                <a:gridCol w="7486650"/>
              </a:tblGrid>
              <a:tr h="583406">
                <a:tc>
                  <a:txBody>
                    <a:bodyPr/>
                    <a:lstStyle/>
                    <a:p>
                      <a:r>
                        <a:rPr sz="1800" b="1">
                          <a:solidFill>
                            <a:srgbClr val="FFFFFF"/>
                          </a:solidFill>
                          <a:latin typeface="Arial"/>
                          <a:ea typeface="Arial"/>
                          <a:cs typeface="Arial"/>
                        </a:rPr>
                        <a:t>Momento</a:t>
                      </a:r>
                    </a:p>
                  </a:txBody>
                  <a:tcPr marL="91440" marR="91440" marT="45720" marB="45720">
                    <a:solidFill>
                      <a:srgbClr val="152C40"/>
                    </a:solidFill>
                  </a:tcPr>
                </a:tc>
                <a:tc>
                  <a:txBody>
                    <a:bodyPr/>
                    <a:lstStyle/>
                    <a:p>
                      <a:r>
                        <a:rPr sz="1800" b="1">
                          <a:solidFill>
                            <a:srgbClr val="FFFFFF"/>
                          </a:solidFill>
                          <a:latin typeface="Arial"/>
                          <a:ea typeface="Arial"/>
                          <a:cs typeface="Arial"/>
                        </a:rPr>
                        <a:t>Qué sabemos o medimos</a:t>
                      </a:r>
                    </a:p>
                  </a:txBody>
                  <a:tcPr marL="91440" marR="91440" marT="45720" marB="45720">
                    <a:solidFill>
                      <a:srgbClr val="152C40"/>
                    </a:solidFill>
                  </a:tcPr>
                </a:tc>
              </a:tr>
              <a:tr h="583406">
                <a:tc>
                  <a:txBody>
                    <a:bodyPr/>
                    <a:lstStyle/>
                    <a:p>
                      <a:r>
                        <a:rPr sz="1800" b="0">
                          <a:solidFill>
                            <a:srgbClr val="152C40"/>
                          </a:solidFill>
                          <a:latin typeface="Arial"/>
                          <a:ea typeface="Arial"/>
                          <a:cs typeface="Arial"/>
                        </a:rPr>
                        <a:t>Primera orden</a:t>
                      </a:r>
                    </a:p>
                  </a:txBody>
                  <a:tcPr marL="91440" marR="91440" marT="45720" marB="45720">
                    <a:solidFill>
                      <a:srgbClr val="F0ECEF"/>
                    </a:solidFill>
                  </a:tcPr>
                </a:tc>
                <a:tc>
                  <a:txBody>
                    <a:bodyPr/>
                    <a:lstStyle/>
                    <a:p>
                      <a:r>
                        <a:rPr sz="1800" b="0">
                          <a:solidFill>
                            <a:srgbClr val="152C40"/>
                          </a:solidFill>
                          <a:latin typeface="Arial"/>
                          <a:ea typeface="Arial"/>
                          <a:cs typeface="Arial"/>
                        </a:rPr>
                        <a:t>Productos y navegación ya conocidos</a:t>
                      </a:r>
                    </a:p>
                  </a:txBody>
                  <a:tcPr marL="91440" marR="91440" marT="45720" marB="45720">
                    <a:solidFill>
                      <a:srgbClr val="F0ECEF"/>
                    </a:solidFill>
                  </a:tcPr>
                </a:tc>
              </a:tr>
              <a:tr h="583406">
                <a:tc>
                  <a:txBody>
                    <a:bodyPr/>
                    <a:lstStyle/>
                    <a:p>
                      <a:r>
                        <a:rPr sz="1800" b="0">
                          <a:solidFill>
                            <a:srgbClr val="152C40"/>
                          </a:solidFill>
                          <a:latin typeface="Arial"/>
                          <a:ea typeface="Arial"/>
                          <a:cs typeface="Arial"/>
                        </a:rPr>
                        <a:t>Siguientes 60 días</a:t>
                      </a:r>
                    </a:p>
                  </a:txBody>
                  <a:tcPr marL="91440" marR="91440" marT="45720" marB="45720">
                    <a:solidFill>
                      <a:srgbClr val="FFFFFF"/>
                    </a:solidFill>
                  </a:tcPr>
                </a:tc>
                <a:tc>
                  <a:txBody>
                    <a:bodyPr/>
                    <a:lstStyle/>
                    <a:p>
                      <a:r>
                        <a:rPr sz="1800" b="0">
                          <a:solidFill>
                            <a:srgbClr val="152C40"/>
                          </a:solidFill>
                          <a:latin typeface="Arial"/>
                          <a:ea typeface="Arial"/>
                          <a:cs typeface="Arial"/>
                        </a:rPr>
                        <a:t>Si el cliente crea otra orden distinta</a:t>
                      </a:r>
                    </a:p>
                  </a:txBody>
                  <a:tcPr marL="91440" marR="91440" marT="45720" marB="45720">
                    <a:solidFill>
                      <a:srgbClr val="FFFFFF"/>
                    </a:solidFill>
                  </a:tcPr>
                </a:tc>
              </a:tr>
              <a:tr h="583406">
                <a:tc>
                  <a:txBody>
                    <a:bodyPr/>
                    <a:lstStyle/>
                    <a:p>
                      <a:r>
                        <a:rPr sz="1800" b="0">
                          <a:solidFill>
                            <a:srgbClr val="152C40"/>
                          </a:solidFill>
                          <a:latin typeface="Arial"/>
                          <a:ea typeface="Arial"/>
                          <a:cs typeface="Arial"/>
                        </a:rPr>
                        <a:t>Seguimiento incompleto</a:t>
                      </a:r>
                    </a:p>
                  </a:txBody>
                  <a:tcPr marL="91440" marR="91440" marT="45720" marB="45720">
                    <a:solidFill>
                      <a:srgbClr val="F0ECEF"/>
                    </a:solidFill>
                  </a:tcPr>
                </a:tc>
                <a:tc>
                  <a:txBody>
                    <a:bodyPr/>
                    <a:lstStyle/>
                    <a:p>
                      <a:r>
                        <a:rPr sz="1800" b="0">
                          <a:solidFill>
                            <a:srgbClr val="152C40"/>
                          </a:solidFill>
                          <a:latin typeface="Arial"/>
                          <a:ea typeface="Arial"/>
                          <a:cs typeface="Arial"/>
                        </a:rPr>
                        <a:t>Esperamos antes de evaluar al cliente</a:t>
                      </a:r>
                    </a:p>
                  </a:txBody>
                  <a:tcPr marL="91440" marR="91440" marT="45720" marB="45720">
                    <a:solidFill>
                      <a:srgbClr val="F0ECEF"/>
                    </a:solidFill>
                  </a:tcPr>
                </a:tc>
              </a:tr>
            </a:tbl>
          </a:graphicData>
        </a:graphic>
      </p:graphicFrame>
      <p:sp>
        <p:nvSpPr>
          <p:cNvPr id="6" name="">
            <a:extLst xmlns:a="http://schemas.openxmlformats.org/drawingml/2006/main">
              <a:ext uri="{FF2B5EF4-FFF2-40B4-BE49-F238E27FC236}">
                <a16:creationId xmlns:a16="http://schemas.microsoft.com/office/drawing/2014/main" id="{EA2D66D2-B91A-4AEF-9859-DE94434ECBBC}"/>
              </a:ext>
            </a:extLst>
          </p:cNvPr>
          <p:cNvSpPr>
            <a:spLocks xmlns:a="http://schemas.openxmlformats.org/drawingml/2006/main" noGrp="1"/>
          </p:cNvSpPr>
          <p:nvPr/>
        </p:nvSpPr>
        <p:spPr>
          <a:xfrm xmlns:a="http://schemas.openxmlformats.org/drawingml/2006/main">
            <a:off x="685800" y="561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9A315F"/>
                </a:solidFill>
                <a:latin typeface="Arial"/>
                <a:ea typeface="Arial"/>
                <a:cs typeface="Arial"/>
              </a:defRPr>
            </a:defPPr>
            <a:lvl1pPr>
              <a:defRPr sz="2175" b="1">
                <a:solidFill>
                  <a:srgbClr val="9A315F"/>
                </a:solidFill>
                <a:latin typeface="Arial"/>
                <a:ea typeface="Arial"/>
                <a:cs typeface="Arial"/>
              </a:defRPr>
            </a:lvl1pPr>
            <a:lvl2pPr>
              <a:defRPr sz="2175" b="1">
                <a:solidFill>
                  <a:srgbClr val="9A315F"/>
                </a:solidFill>
                <a:latin typeface="Arial"/>
                <a:ea typeface="Arial"/>
                <a:cs typeface="Arial"/>
              </a:defRPr>
            </a:lvl2pPr>
            <a:lvl3pPr>
              <a:defRPr sz="2175" b="1">
                <a:solidFill>
                  <a:srgbClr val="9A315F"/>
                </a:solidFill>
                <a:latin typeface="Arial"/>
                <a:ea typeface="Arial"/>
                <a:cs typeface="Arial"/>
              </a:defRPr>
            </a:lvl3pPr>
            <a:lvl4pPr>
              <a:defRPr sz="2175" b="1">
                <a:solidFill>
                  <a:srgbClr val="9A315F"/>
                </a:solidFill>
                <a:latin typeface="Arial"/>
                <a:ea typeface="Arial"/>
                <a:cs typeface="Arial"/>
              </a:defRPr>
            </a:lvl4pPr>
            <a:lvl5pPr>
              <a:defRPr sz="2175" b="1">
                <a:solidFill>
                  <a:srgbClr val="9A315F"/>
                </a:solidFill>
                <a:latin typeface="Arial"/>
                <a:ea typeface="Arial"/>
                <a:cs typeface="Arial"/>
              </a:defRPr>
            </a:lvl5pPr>
            <a:lvl6pPr>
              <a:defRPr sz="2175" b="1">
                <a:solidFill>
                  <a:srgbClr val="9A315F"/>
                </a:solidFill>
                <a:latin typeface="Arial"/>
                <a:ea typeface="Arial"/>
                <a:cs typeface="Arial"/>
              </a:defRPr>
            </a:lvl6pPr>
            <a:lvl7pPr>
              <a:defRPr sz="2175" b="1">
                <a:solidFill>
                  <a:srgbClr val="9A315F"/>
                </a:solidFill>
                <a:latin typeface="Arial"/>
                <a:ea typeface="Arial"/>
                <a:cs typeface="Arial"/>
              </a:defRPr>
            </a:lvl7pPr>
            <a:lvl8pPr>
              <a:defRPr sz="2175" b="1">
                <a:solidFill>
                  <a:srgbClr val="9A315F"/>
                </a:solidFill>
                <a:latin typeface="Arial"/>
                <a:ea typeface="Arial"/>
                <a:cs typeface="Arial"/>
              </a:defRPr>
            </a:lvl8pPr>
            <a:lvl9pPr>
              <a:defRPr sz="2175" b="1">
                <a:solidFill>
                  <a:srgbClr val="9A315F"/>
                </a:solidFill>
                <a:latin typeface="Arial"/>
                <a:ea typeface="Arial"/>
                <a:cs typeface="Arial"/>
              </a:defRPr>
            </a:lvl9pPr>
          </a:lstStyle>
          <a:p xmlns:a="http://schemas.openxmlformats.org/drawingml/2006/main">
            <a:pPr>
              <a:defRPr sz="2175" b="1">
                <a:solidFill>
                  <a:srgbClr val="9A315F"/>
                </a:solidFill>
                <a:latin typeface="Arial"/>
                <a:ea typeface="Arial"/>
                <a:cs typeface="Arial"/>
              </a:defRPr>
            </a:pPr>
            <a:r>
              <a:rPr sz="2175" b="1">
                <a:solidFill>
                  <a:srgbClr val="9A315F"/>
                </a:solidFill>
                <a:latin typeface="Arial"/>
                <a:ea typeface="Arial"/>
                <a:cs typeface="Arial"/>
              </a:rPr>
              <a:t>La información futura nunca se utiliza para anticipar la compra</a:t>
            </a:r>
          </a:p>
        </p:txBody>
      </p:sp>
      <p:sp>
        <p:nvSpPr>
          <p:cNvPr id="7" name="">
            <a:extLst xmlns:a="http://schemas.openxmlformats.org/drawingml/2006/main">
              <a:ext uri="{FF2B5EF4-FFF2-40B4-BE49-F238E27FC236}">
                <a16:creationId xmlns:a16="http://schemas.microsoft.com/office/drawing/2014/main" id="{2FA27400-EDD8-4CC4-A032-1FA72E0C8CDD}"/>
              </a:ext>
            </a:extLst>
          </p:cNvPr>
          <p:cNvSpPr>
            <a:spLocks xmlns:a="http://schemas.openxmlformats.org/drawingml/2006/main" noGrp="1"/>
          </p:cNvSpPr>
          <p:nvPr/>
        </p:nvSpPr>
        <p:spPr>
          <a:xfrm xmlns:a="http://schemas.openxmlformats.org/drawingml/2006/main">
            <a:off x="685800" y="61341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775"/>
                </a:solidFill>
                <a:latin typeface="Arial"/>
                <a:ea typeface="Arial"/>
                <a:cs typeface="Arial"/>
              </a:defRPr>
            </a:defPPr>
            <a:lvl1pPr>
              <a:defRPr sz="1350" b="0">
                <a:solidFill>
                  <a:srgbClr val="526775"/>
                </a:solidFill>
                <a:latin typeface="Arial"/>
                <a:ea typeface="Arial"/>
                <a:cs typeface="Arial"/>
              </a:defRPr>
            </a:lvl1pPr>
            <a:lvl2pPr>
              <a:defRPr sz="1350" b="0">
                <a:solidFill>
                  <a:srgbClr val="526775"/>
                </a:solidFill>
                <a:latin typeface="Arial"/>
                <a:ea typeface="Arial"/>
                <a:cs typeface="Arial"/>
              </a:defRPr>
            </a:lvl2pPr>
            <a:lvl3pPr>
              <a:defRPr sz="1350" b="0">
                <a:solidFill>
                  <a:srgbClr val="526775"/>
                </a:solidFill>
                <a:latin typeface="Arial"/>
                <a:ea typeface="Arial"/>
                <a:cs typeface="Arial"/>
              </a:defRPr>
            </a:lvl3pPr>
            <a:lvl4pPr>
              <a:defRPr sz="1350" b="0">
                <a:solidFill>
                  <a:srgbClr val="526775"/>
                </a:solidFill>
                <a:latin typeface="Arial"/>
                <a:ea typeface="Arial"/>
                <a:cs typeface="Arial"/>
              </a:defRPr>
            </a:lvl4pPr>
            <a:lvl5pPr>
              <a:defRPr sz="1350" b="0">
                <a:solidFill>
                  <a:srgbClr val="526775"/>
                </a:solidFill>
                <a:latin typeface="Arial"/>
                <a:ea typeface="Arial"/>
                <a:cs typeface="Arial"/>
              </a:defRPr>
            </a:lvl5pPr>
            <a:lvl6pPr>
              <a:defRPr sz="1350" b="0">
                <a:solidFill>
                  <a:srgbClr val="526775"/>
                </a:solidFill>
                <a:latin typeface="Arial"/>
                <a:ea typeface="Arial"/>
                <a:cs typeface="Arial"/>
              </a:defRPr>
            </a:lvl6pPr>
            <a:lvl7pPr>
              <a:defRPr sz="1350" b="0">
                <a:solidFill>
                  <a:srgbClr val="526775"/>
                </a:solidFill>
                <a:latin typeface="Arial"/>
                <a:ea typeface="Arial"/>
                <a:cs typeface="Arial"/>
              </a:defRPr>
            </a:lvl7pPr>
            <a:lvl8pPr>
              <a:defRPr sz="1350" b="0">
                <a:solidFill>
                  <a:srgbClr val="526775"/>
                </a:solidFill>
                <a:latin typeface="Arial"/>
                <a:ea typeface="Arial"/>
                <a:cs typeface="Arial"/>
              </a:defRPr>
            </a:lvl8pPr>
            <a:lvl9pPr>
              <a:defRPr sz="1350" b="0">
                <a:solidFill>
                  <a:srgbClr val="526775"/>
                </a:solidFill>
                <a:latin typeface="Arial"/>
                <a:ea typeface="Arial"/>
                <a:cs typeface="Arial"/>
              </a:defRPr>
            </a:lvl9pPr>
          </a:lstStyle>
          <a:p xmlns:a="http://schemas.openxmlformats.org/drawingml/2006/main">
            <a:pPr>
              <a:defRPr sz="1350" b="0">
                <a:solidFill>
                  <a:srgbClr val="526775"/>
                </a:solidFill>
                <a:latin typeface="Arial"/>
                <a:ea typeface="Arial"/>
                <a:cs typeface="Arial"/>
              </a:defRPr>
            </a:pPr>
            <a:r>
              <a:rPr sz="1350" b="0">
                <a:solidFill>
                  <a:srgbClr val="526775"/>
                </a:solidFill>
                <a:latin typeface="Arial"/>
                <a:ea typeface="Arial"/>
                <a:cs typeface="Arial"/>
              </a:rPr>
              <a:t>Definición aplicada: orden creada. La decisión sobre pago y cancelaciones debe acordarse con negocio.</a:t>
            </a:r>
          </a:p>
        </p:txBody>
      </p:sp>
    </p:spTree>
    <p:extLst>
      <p:ext uri="{BB962C8B-B14F-4D97-AF65-F5344CB8AC3E}">
        <p14:creationId xmlns:p14="http://schemas.microsoft.com/office/powerpoint/2010/main" val="1198607662"/>
      </p:ext>
    </p:extLst>
  </p:cSld>
</p:sld>
</file>

<file path=ppt/slides/slide3.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853BB4-469C-45EE-B194-CC52F71067EA}"/>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Una base confiable para comparar clientes</a:t>
            </a:r>
          </a:p>
        </p:txBody>
      </p:sp>
      <p:sp>
        <p:nvSpPr>
          <p:cNvPr id="2" name="">
            <a:extLst xmlns:a="http://schemas.openxmlformats.org/drawingml/2006/main">
              <a:ext uri="{FF2B5EF4-FFF2-40B4-BE49-F238E27FC236}">
                <a16:creationId xmlns:a16="http://schemas.microsoft.com/office/drawing/2014/main" id="{CB1B95C7-92E6-47BB-A139-804A189BFCD1}"/>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Preparé en SQL y BigQuery una fila por cliente, con revisión de cruces y fechas antes de entrenar.</a:t>
            </a:r>
          </a:p>
        </p:txBody>
      </p:sp>
      <p:sp>
        <p:nvSpPr>
          <p:cNvPr id="3" name="">
            <a:extLst xmlns:a="http://schemas.openxmlformats.org/drawingml/2006/main">
              <a:ext uri="{FF2B5EF4-FFF2-40B4-BE49-F238E27FC236}">
                <a16:creationId xmlns:a16="http://schemas.microsoft.com/office/drawing/2014/main" id="{D5241BD1-D207-4647-B6DC-2B04618DDBB6}"/>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4B47CD1B-23A5-4321-9AA1-0BC519E106C8}"/>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61B0FD6-58E4-4159-98CB-AF1CB24E964B}"/>
              </a:ext>
            </a:extLst>
          </p:cNvPr>
          <p:cNvSpPr>
            <a:spLocks xmlns:a="http://schemas.openxmlformats.org/drawingml/2006/main" noGrp="1"/>
          </p:cNvSpPr>
          <p:nvPr/>
        </p:nvSpPr>
        <p:spPr>
          <a:xfrm xmlns:a="http://schemas.openxmlformats.org/drawingml/2006/main">
            <a:off x="685800" y="27336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9A315F"/>
                </a:solidFill>
                <a:latin typeface="Arial"/>
                <a:ea typeface="Arial"/>
                <a:cs typeface="Arial"/>
              </a:defRPr>
            </a:defPPr>
            <a:lvl1pPr>
              <a:defRPr sz="4950" b="1">
                <a:solidFill>
                  <a:srgbClr val="9A315F"/>
                </a:solidFill>
                <a:latin typeface="Arial"/>
                <a:ea typeface="Arial"/>
                <a:cs typeface="Arial"/>
              </a:defRPr>
            </a:lvl1pPr>
            <a:lvl2pPr>
              <a:defRPr sz="4950" b="1">
                <a:solidFill>
                  <a:srgbClr val="9A315F"/>
                </a:solidFill>
                <a:latin typeface="Arial"/>
                <a:ea typeface="Arial"/>
                <a:cs typeface="Arial"/>
              </a:defRPr>
            </a:lvl2pPr>
            <a:lvl3pPr>
              <a:defRPr sz="4950" b="1">
                <a:solidFill>
                  <a:srgbClr val="9A315F"/>
                </a:solidFill>
                <a:latin typeface="Arial"/>
                <a:ea typeface="Arial"/>
                <a:cs typeface="Arial"/>
              </a:defRPr>
            </a:lvl3pPr>
            <a:lvl4pPr>
              <a:defRPr sz="4950" b="1">
                <a:solidFill>
                  <a:srgbClr val="9A315F"/>
                </a:solidFill>
                <a:latin typeface="Arial"/>
                <a:ea typeface="Arial"/>
                <a:cs typeface="Arial"/>
              </a:defRPr>
            </a:lvl4pPr>
            <a:lvl5pPr>
              <a:defRPr sz="4950" b="1">
                <a:solidFill>
                  <a:srgbClr val="9A315F"/>
                </a:solidFill>
                <a:latin typeface="Arial"/>
                <a:ea typeface="Arial"/>
                <a:cs typeface="Arial"/>
              </a:defRPr>
            </a:lvl5pPr>
            <a:lvl6pPr>
              <a:defRPr sz="4950" b="1">
                <a:solidFill>
                  <a:srgbClr val="9A315F"/>
                </a:solidFill>
                <a:latin typeface="Arial"/>
                <a:ea typeface="Arial"/>
                <a:cs typeface="Arial"/>
              </a:defRPr>
            </a:lvl6pPr>
            <a:lvl7pPr>
              <a:defRPr sz="4950" b="1">
                <a:solidFill>
                  <a:srgbClr val="9A315F"/>
                </a:solidFill>
                <a:latin typeface="Arial"/>
                <a:ea typeface="Arial"/>
                <a:cs typeface="Arial"/>
              </a:defRPr>
            </a:lvl7pPr>
            <a:lvl8pPr>
              <a:defRPr sz="4950" b="1">
                <a:solidFill>
                  <a:srgbClr val="9A315F"/>
                </a:solidFill>
                <a:latin typeface="Arial"/>
                <a:ea typeface="Arial"/>
                <a:cs typeface="Arial"/>
              </a:defRPr>
            </a:lvl8pPr>
            <a:lvl9pPr>
              <a:defRPr sz="4950" b="1">
                <a:solidFill>
                  <a:srgbClr val="9A315F"/>
                </a:solidFill>
                <a:latin typeface="Arial"/>
                <a:ea typeface="Arial"/>
                <a:cs typeface="Arial"/>
              </a:defRPr>
            </a:lvl9pPr>
          </a:lstStyle>
          <a:p xmlns:a="http://schemas.openxmlformats.org/drawingml/2006/main">
            <a:pPr>
              <a:defRPr sz="4950" b="1">
                <a:solidFill>
                  <a:srgbClr val="9A315F"/>
                </a:solidFill>
                <a:latin typeface="Arial"/>
                <a:ea typeface="Arial"/>
                <a:cs typeface="Arial"/>
              </a:defRPr>
            </a:pPr>
            <a:r>
              <a:rPr sz="4950" b="1">
                <a:solidFill>
                  <a:srgbClr val="9A315F"/>
                </a:solidFill>
                <a:latin typeface="Arial"/>
                <a:ea typeface="Arial"/>
                <a:cs typeface="Arial"/>
              </a:rPr>
              <a:t>79.634</a:t>
            </a:r>
          </a:p>
        </p:txBody>
      </p:sp>
      <p:sp>
        <p:nvSpPr>
          <p:cNvPr id="6" name="">
            <a:extLst xmlns:a="http://schemas.openxmlformats.org/drawingml/2006/main">
              <a:ext uri="{FF2B5EF4-FFF2-40B4-BE49-F238E27FC236}">
                <a16:creationId xmlns:a16="http://schemas.microsoft.com/office/drawing/2014/main" id="{113A84CD-89A3-4790-96B7-7C6DD38CA0E9}"/>
              </a:ext>
            </a:extLst>
          </p:cNvPr>
          <p:cNvSpPr>
            <a:spLocks xmlns:a="http://schemas.openxmlformats.org/drawingml/2006/main" noGrp="1"/>
          </p:cNvSpPr>
          <p:nvPr/>
        </p:nvSpPr>
        <p:spPr>
          <a:xfrm xmlns:a="http://schemas.openxmlformats.org/drawingml/2006/main">
            <a:off x="685800" y="370522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2C40"/>
                </a:solidFill>
                <a:latin typeface="Arial"/>
                <a:ea typeface="Arial"/>
                <a:cs typeface="Arial"/>
              </a:defRPr>
            </a:defPPr>
            <a:lvl1pPr>
              <a:defRPr sz="2100" b="0">
                <a:solidFill>
                  <a:srgbClr val="152C40"/>
                </a:solidFill>
                <a:latin typeface="Arial"/>
                <a:ea typeface="Arial"/>
                <a:cs typeface="Arial"/>
              </a:defRPr>
            </a:lvl1pPr>
            <a:lvl2pPr>
              <a:defRPr sz="2100" b="0">
                <a:solidFill>
                  <a:srgbClr val="152C40"/>
                </a:solidFill>
                <a:latin typeface="Arial"/>
                <a:ea typeface="Arial"/>
                <a:cs typeface="Arial"/>
              </a:defRPr>
            </a:lvl2pPr>
            <a:lvl3pPr>
              <a:defRPr sz="2100" b="0">
                <a:solidFill>
                  <a:srgbClr val="152C40"/>
                </a:solidFill>
                <a:latin typeface="Arial"/>
                <a:ea typeface="Arial"/>
                <a:cs typeface="Arial"/>
              </a:defRPr>
            </a:lvl3pPr>
            <a:lvl4pPr>
              <a:defRPr sz="2100" b="0">
                <a:solidFill>
                  <a:srgbClr val="152C40"/>
                </a:solidFill>
                <a:latin typeface="Arial"/>
                <a:ea typeface="Arial"/>
                <a:cs typeface="Arial"/>
              </a:defRPr>
            </a:lvl4pPr>
            <a:lvl5pPr>
              <a:defRPr sz="2100" b="0">
                <a:solidFill>
                  <a:srgbClr val="152C40"/>
                </a:solidFill>
                <a:latin typeface="Arial"/>
                <a:ea typeface="Arial"/>
                <a:cs typeface="Arial"/>
              </a:defRPr>
            </a:lvl5pPr>
            <a:lvl6pPr>
              <a:defRPr sz="2100" b="0">
                <a:solidFill>
                  <a:srgbClr val="152C40"/>
                </a:solidFill>
                <a:latin typeface="Arial"/>
                <a:ea typeface="Arial"/>
                <a:cs typeface="Arial"/>
              </a:defRPr>
            </a:lvl6pPr>
            <a:lvl7pPr>
              <a:defRPr sz="2100" b="0">
                <a:solidFill>
                  <a:srgbClr val="152C40"/>
                </a:solidFill>
                <a:latin typeface="Arial"/>
                <a:ea typeface="Arial"/>
                <a:cs typeface="Arial"/>
              </a:defRPr>
            </a:lvl7pPr>
            <a:lvl8pPr>
              <a:defRPr sz="2100" b="0">
                <a:solidFill>
                  <a:srgbClr val="152C40"/>
                </a:solidFill>
                <a:latin typeface="Arial"/>
                <a:ea typeface="Arial"/>
                <a:cs typeface="Arial"/>
              </a:defRPr>
            </a:lvl8pPr>
            <a:lvl9pPr>
              <a:defRPr sz="2100" b="0">
                <a:solidFill>
                  <a:srgbClr val="152C40"/>
                </a:solidFill>
                <a:latin typeface="Arial"/>
                <a:ea typeface="Arial"/>
                <a:cs typeface="Arial"/>
              </a:defRPr>
            </a:lvl9pPr>
          </a:lstStyle>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clientes en la base preparada</a:t>
            </a:r>
          </a:p>
        </p:txBody>
      </p:sp>
      <p:sp>
        <p:nvSpPr>
          <p:cNvPr id="7" name="">
            <a:extLst xmlns:a="http://schemas.openxmlformats.org/drawingml/2006/main">
              <a:ext uri="{FF2B5EF4-FFF2-40B4-BE49-F238E27FC236}">
                <a16:creationId xmlns:a16="http://schemas.microsoft.com/office/drawing/2014/main" id="{147AF8B7-600F-4067-BF45-B81A1996B3DC}"/>
              </a:ext>
            </a:extLst>
          </p:cNvPr>
          <p:cNvSpPr>
            <a:spLocks xmlns:a="http://schemas.openxmlformats.org/drawingml/2006/main" noGrp="1"/>
          </p:cNvSpPr>
          <p:nvPr/>
        </p:nvSpPr>
        <p:spPr>
          <a:xfrm xmlns:a="http://schemas.openxmlformats.org/drawingml/2006/main">
            <a:off x="6477000" y="2733675"/>
            <a:ext cx="4857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32657A"/>
                </a:solidFill>
                <a:latin typeface="Arial"/>
                <a:ea typeface="Arial"/>
                <a:cs typeface="Arial"/>
              </a:defRPr>
            </a:defPPr>
            <a:lvl1pPr>
              <a:defRPr sz="4950" b="1">
                <a:solidFill>
                  <a:srgbClr val="32657A"/>
                </a:solidFill>
                <a:latin typeface="Arial"/>
                <a:ea typeface="Arial"/>
                <a:cs typeface="Arial"/>
              </a:defRPr>
            </a:lvl1pPr>
            <a:lvl2pPr>
              <a:defRPr sz="4950" b="1">
                <a:solidFill>
                  <a:srgbClr val="32657A"/>
                </a:solidFill>
                <a:latin typeface="Arial"/>
                <a:ea typeface="Arial"/>
                <a:cs typeface="Arial"/>
              </a:defRPr>
            </a:lvl2pPr>
            <a:lvl3pPr>
              <a:defRPr sz="4950" b="1">
                <a:solidFill>
                  <a:srgbClr val="32657A"/>
                </a:solidFill>
                <a:latin typeface="Arial"/>
                <a:ea typeface="Arial"/>
                <a:cs typeface="Arial"/>
              </a:defRPr>
            </a:lvl3pPr>
            <a:lvl4pPr>
              <a:defRPr sz="4950" b="1">
                <a:solidFill>
                  <a:srgbClr val="32657A"/>
                </a:solidFill>
                <a:latin typeface="Arial"/>
                <a:ea typeface="Arial"/>
                <a:cs typeface="Arial"/>
              </a:defRPr>
            </a:lvl4pPr>
            <a:lvl5pPr>
              <a:defRPr sz="4950" b="1">
                <a:solidFill>
                  <a:srgbClr val="32657A"/>
                </a:solidFill>
                <a:latin typeface="Arial"/>
                <a:ea typeface="Arial"/>
                <a:cs typeface="Arial"/>
              </a:defRPr>
            </a:lvl5pPr>
            <a:lvl6pPr>
              <a:defRPr sz="4950" b="1">
                <a:solidFill>
                  <a:srgbClr val="32657A"/>
                </a:solidFill>
                <a:latin typeface="Arial"/>
                <a:ea typeface="Arial"/>
                <a:cs typeface="Arial"/>
              </a:defRPr>
            </a:lvl6pPr>
            <a:lvl7pPr>
              <a:defRPr sz="4950" b="1">
                <a:solidFill>
                  <a:srgbClr val="32657A"/>
                </a:solidFill>
                <a:latin typeface="Arial"/>
                <a:ea typeface="Arial"/>
                <a:cs typeface="Arial"/>
              </a:defRPr>
            </a:lvl7pPr>
            <a:lvl8pPr>
              <a:defRPr sz="4950" b="1">
                <a:solidFill>
                  <a:srgbClr val="32657A"/>
                </a:solidFill>
                <a:latin typeface="Arial"/>
                <a:ea typeface="Arial"/>
                <a:cs typeface="Arial"/>
              </a:defRPr>
            </a:lvl8pPr>
            <a:lvl9pPr>
              <a:defRPr sz="4950" b="1">
                <a:solidFill>
                  <a:srgbClr val="32657A"/>
                </a:solidFill>
                <a:latin typeface="Arial"/>
                <a:ea typeface="Arial"/>
                <a:cs typeface="Arial"/>
              </a:defRPr>
            </a:lvl9pPr>
          </a:lstStyle>
          <a:p xmlns:a="http://schemas.openxmlformats.org/drawingml/2006/main">
            <a:pPr>
              <a:defRPr sz="4950" b="1">
                <a:solidFill>
                  <a:srgbClr val="32657A"/>
                </a:solidFill>
                <a:latin typeface="Arial"/>
                <a:ea typeface="Arial"/>
                <a:cs typeface="Arial"/>
              </a:defRPr>
            </a:pPr>
            <a:r>
              <a:rPr sz="4950" b="1">
                <a:solidFill>
                  <a:srgbClr val="32657A"/>
                </a:solidFill>
                <a:latin typeface="Arial"/>
                <a:ea typeface="Arial"/>
                <a:cs typeface="Arial"/>
              </a:rPr>
              <a:t>70.741</a:t>
            </a:r>
          </a:p>
        </p:txBody>
      </p:sp>
      <p:sp>
        <p:nvSpPr>
          <p:cNvPr id="8" name="">
            <a:extLst xmlns:a="http://schemas.openxmlformats.org/drawingml/2006/main">
              <a:ext uri="{FF2B5EF4-FFF2-40B4-BE49-F238E27FC236}">
                <a16:creationId xmlns:a16="http://schemas.microsoft.com/office/drawing/2014/main" id="{39249A3E-3878-4BB8-8FF7-19354F95B81A}"/>
              </a:ext>
            </a:extLst>
          </p:cNvPr>
          <p:cNvSpPr>
            <a:spLocks xmlns:a="http://schemas.openxmlformats.org/drawingml/2006/main" noGrp="1"/>
          </p:cNvSpPr>
          <p:nvPr/>
        </p:nvSpPr>
        <p:spPr>
          <a:xfrm xmlns:a="http://schemas.openxmlformats.org/drawingml/2006/main">
            <a:off x="6477000" y="3705225"/>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2C40"/>
                </a:solidFill>
                <a:latin typeface="Arial"/>
                <a:ea typeface="Arial"/>
                <a:cs typeface="Arial"/>
              </a:defRPr>
            </a:defPPr>
            <a:lvl1pPr>
              <a:defRPr sz="2100" b="0">
                <a:solidFill>
                  <a:srgbClr val="152C40"/>
                </a:solidFill>
                <a:latin typeface="Arial"/>
                <a:ea typeface="Arial"/>
                <a:cs typeface="Arial"/>
              </a:defRPr>
            </a:lvl1pPr>
            <a:lvl2pPr>
              <a:defRPr sz="2100" b="0">
                <a:solidFill>
                  <a:srgbClr val="152C40"/>
                </a:solidFill>
                <a:latin typeface="Arial"/>
                <a:ea typeface="Arial"/>
                <a:cs typeface="Arial"/>
              </a:defRPr>
            </a:lvl2pPr>
            <a:lvl3pPr>
              <a:defRPr sz="2100" b="0">
                <a:solidFill>
                  <a:srgbClr val="152C40"/>
                </a:solidFill>
                <a:latin typeface="Arial"/>
                <a:ea typeface="Arial"/>
                <a:cs typeface="Arial"/>
              </a:defRPr>
            </a:lvl3pPr>
            <a:lvl4pPr>
              <a:defRPr sz="2100" b="0">
                <a:solidFill>
                  <a:srgbClr val="152C40"/>
                </a:solidFill>
                <a:latin typeface="Arial"/>
                <a:ea typeface="Arial"/>
                <a:cs typeface="Arial"/>
              </a:defRPr>
            </a:lvl4pPr>
            <a:lvl5pPr>
              <a:defRPr sz="2100" b="0">
                <a:solidFill>
                  <a:srgbClr val="152C40"/>
                </a:solidFill>
                <a:latin typeface="Arial"/>
                <a:ea typeface="Arial"/>
                <a:cs typeface="Arial"/>
              </a:defRPr>
            </a:lvl5pPr>
            <a:lvl6pPr>
              <a:defRPr sz="2100" b="0">
                <a:solidFill>
                  <a:srgbClr val="152C40"/>
                </a:solidFill>
                <a:latin typeface="Arial"/>
                <a:ea typeface="Arial"/>
                <a:cs typeface="Arial"/>
              </a:defRPr>
            </a:lvl6pPr>
            <a:lvl7pPr>
              <a:defRPr sz="2100" b="0">
                <a:solidFill>
                  <a:srgbClr val="152C40"/>
                </a:solidFill>
                <a:latin typeface="Arial"/>
                <a:ea typeface="Arial"/>
                <a:cs typeface="Arial"/>
              </a:defRPr>
            </a:lvl7pPr>
            <a:lvl8pPr>
              <a:defRPr sz="2100" b="0">
                <a:solidFill>
                  <a:srgbClr val="152C40"/>
                </a:solidFill>
                <a:latin typeface="Arial"/>
                <a:ea typeface="Arial"/>
                <a:cs typeface="Arial"/>
              </a:defRPr>
            </a:lvl8pPr>
            <a:lvl9pPr>
              <a:defRPr sz="2100" b="0">
                <a:solidFill>
                  <a:srgbClr val="152C40"/>
                </a:solidFill>
                <a:latin typeface="Arial"/>
                <a:ea typeface="Arial"/>
                <a:cs typeface="Arial"/>
              </a:defRPr>
            </a:lvl9pPr>
          </a:lstStyle>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con 60 días completos de seguimiento</a:t>
            </a:r>
          </a:p>
        </p:txBody>
      </p:sp>
      <p:sp>
        <p:nvSpPr>
          <p:cNvPr id="9" name="">
            <a:extLst xmlns:a="http://schemas.openxmlformats.org/drawingml/2006/main">
              <a:ext uri="{FF2B5EF4-FFF2-40B4-BE49-F238E27FC236}">
                <a16:creationId xmlns:a16="http://schemas.microsoft.com/office/drawing/2014/main" id="{FE32442D-7ACB-4A38-A10F-EC6480DB68A8}"/>
              </a:ext>
            </a:extLst>
          </p:cNvPr>
          <p:cNvSpPr>
            <a:spLocks xmlns:a="http://schemas.openxmlformats.org/drawingml/2006/main" noGrp="1"/>
          </p:cNvSpPr>
          <p:nvPr/>
        </p:nvSpPr>
        <p:spPr>
          <a:xfrm xmlns:a="http://schemas.openxmlformats.org/drawingml/2006/main">
            <a:off x="685800" y="4686300"/>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C40"/>
                </a:solidFill>
                <a:latin typeface="Arial"/>
                <a:ea typeface="Arial"/>
                <a:cs typeface="Arial"/>
              </a:defRPr>
            </a:defPPr>
            <a:lvl1pPr>
              <a:defRPr sz="1950" b="0">
                <a:solidFill>
                  <a:srgbClr val="152C40"/>
                </a:solidFill>
                <a:latin typeface="Arial"/>
                <a:ea typeface="Arial"/>
                <a:cs typeface="Arial"/>
              </a:defRPr>
            </a:lvl1pPr>
            <a:lvl2pPr>
              <a:defRPr sz="1950" b="0">
                <a:solidFill>
                  <a:srgbClr val="152C40"/>
                </a:solidFill>
                <a:latin typeface="Arial"/>
                <a:ea typeface="Arial"/>
                <a:cs typeface="Arial"/>
              </a:defRPr>
            </a:lvl2pPr>
            <a:lvl3pPr>
              <a:defRPr sz="1950" b="0">
                <a:solidFill>
                  <a:srgbClr val="152C40"/>
                </a:solidFill>
                <a:latin typeface="Arial"/>
                <a:ea typeface="Arial"/>
                <a:cs typeface="Arial"/>
              </a:defRPr>
            </a:lvl3pPr>
            <a:lvl4pPr>
              <a:defRPr sz="1950" b="0">
                <a:solidFill>
                  <a:srgbClr val="152C40"/>
                </a:solidFill>
                <a:latin typeface="Arial"/>
                <a:ea typeface="Arial"/>
                <a:cs typeface="Arial"/>
              </a:defRPr>
            </a:lvl4pPr>
            <a:lvl5pPr>
              <a:defRPr sz="1950" b="0">
                <a:solidFill>
                  <a:srgbClr val="152C40"/>
                </a:solidFill>
                <a:latin typeface="Arial"/>
                <a:ea typeface="Arial"/>
                <a:cs typeface="Arial"/>
              </a:defRPr>
            </a:lvl5pPr>
            <a:lvl6pPr>
              <a:defRPr sz="1950" b="0">
                <a:solidFill>
                  <a:srgbClr val="152C40"/>
                </a:solidFill>
                <a:latin typeface="Arial"/>
                <a:ea typeface="Arial"/>
                <a:cs typeface="Arial"/>
              </a:defRPr>
            </a:lvl6pPr>
            <a:lvl7pPr>
              <a:defRPr sz="1950" b="0">
                <a:solidFill>
                  <a:srgbClr val="152C40"/>
                </a:solidFill>
                <a:latin typeface="Arial"/>
                <a:ea typeface="Arial"/>
                <a:cs typeface="Arial"/>
              </a:defRPr>
            </a:lvl7pPr>
            <a:lvl8pPr>
              <a:defRPr sz="1950" b="0">
                <a:solidFill>
                  <a:srgbClr val="152C40"/>
                </a:solidFill>
                <a:latin typeface="Arial"/>
                <a:ea typeface="Arial"/>
                <a:cs typeface="Arial"/>
              </a:defRPr>
            </a:lvl8pPr>
            <a:lvl9pPr>
              <a:defRPr sz="1950" b="0">
                <a:solidFill>
                  <a:srgbClr val="152C40"/>
                </a:solidFill>
                <a:latin typeface="Arial"/>
                <a:ea typeface="Arial"/>
                <a:cs typeface="Arial"/>
              </a:defRPr>
            </a:lvl9pPr>
          </a:lstStyle>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Sin duplicados en las claves revisadas</a:t>
            </a:r>
          </a:p>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Sin cruces de órdenes o productos sin correspondencia</a:t>
            </a:r>
          </a:p>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Sin utilizar ítems registrados después de la primera orden</a:t>
            </a:r>
          </a:p>
        </p:txBody>
      </p:sp>
      <p:sp>
        <p:nvSpPr>
          <p:cNvPr id="10" name="">
            <a:extLst xmlns:a="http://schemas.openxmlformats.org/drawingml/2006/main">
              <a:ext uri="{FF2B5EF4-FFF2-40B4-BE49-F238E27FC236}">
                <a16:creationId xmlns:a16="http://schemas.microsoft.com/office/drawing/2014/main" id="{9C9CB26D-AB83-47EC-8C36-74CCBEB4F8A6}"/>
              </a:ext>
            </a:extLst>
          </p:cNvPr>
          <p:cNvSpPr>
            <a:spLocks xmlns:a="http://schemas.openxmlformats.org/drawingml/2006/main" noGrp="1"/>
          </p:cNvSpPr>
          <p:nvPr/>
        </p:nvSpPr>
        <p:spPr>
          <a:xfrm xmlns:a="http://schemas.openxmlformats.org/drawingml/2006/main">
            <a:off x="685800" y="6048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5"/>
                </a:solidFill>
                <a:latin typeface="Arial"/>
                <a:ea typeface="Arial"/>
                <a:cs typeface="Arial"/>
              </a:defRPr>
            </a:defPPr>
            <a:lvl1pPr>
              <a:defRPr sz="1500" b="0">
                <a:solidFill>
                  <a:srgbClr val="526775"/>
                </a:solidFill>
                <a:latin typeface="Arial"/>
                <a:ea typeface="Arial"/>
                <a:cs typeface="Arial"/>
              </a:defRPr>
            </a:lvl1pPr>
            <a:lvl2pPr>
              <a:defRPr sz="1500" b="0">
                <a:solidFill>
                  <a:srgbClr val="526775"/>
                </a:solidFill>
                <a:latin typeface="Arial"/>
                <a:ea typeface="Arial"/>
                <a:cs typeface="Arial"/>
              </a:defRPr>
            </a:lvl2pPr>
            <a:lvl3pPr>
              <a:defRPr sz="1500" b="0">
                <a:solidFill>
                  <a:srgbClr val="526775"/>
                </a:solidFill>
                <a:latin typeface="Arial"/>
                <a:ea typeface="Arial"/>
                <a:cs typeface="Arial"/>
              </a:defRPr>
            </a:lvl3pPr>
            <a:lvl4pPr>
              <a:defRPr sz="1500" b="0">
                <a:solidFill>
                  <a:srgbClr val="526775"/>
                </a:solidFill>
                <a:latin typeface="Arial"/>
                <a:ea typeface="Arial"/>
                <a:cs typeface="Arial"/>
              </a:defRPr>
            </a:lvl4pPr>
            <a:lvl5pPr>
              <a:defRPr sz="1500" b="0">
                <a:solidFill>
                  <a:srgbClr val="526775"/>
                </a:solidFill>
                <a:latin typeface="Arial"/>
                <a:ea typeface="Arial"/>
                <a:cs typeface="Arial"/>
              </a:defRPr>
            </a:lvl5pPr>
            <a:lvl6pPr>
              <a:defRPr sz="1500" b="0">
                <a:solidFill>
                  <a:srgbClr val="526775"/>
                </a:solidFill>
                <a:latin typeface="Arial"/>
                <a:ea typeface="Arial"/>
                <a:cs typeface="Arial"/>
              </a:defRPr>
            </a:lvl6pPr>
            <a:lvl7pPr>
              <a:defRPr sz="1500" b="0">
                <a:solidFill>
                  <a:srgbClr val="526775"/>
                </a:solidFill>
                <a:latin typeface="Arial"/>
                <a:ea typeface="Arial"/>
                <a:cs typeface="Arial"/>
              </a:defRPr>
            </a:lvl7pPr>
            <a:lvl8pPr>
              <a:defRPr sz="1500" b="0">
                <a:solidFill>
                  <a:srgbClr val="526775"/>
                </a:solidFill>
                <a:latin typeface="Arial"/>
                <a:ea typeface="Arial"/>
                <a:cs typeface="Arial"/>
              </a:defRPr>
            </a:lvl8pPr>
            <a:lvl9pPr>
              <a:defRPr sz="1500" b="0">
                <a:solidFill>
                  <a:srgbClr val="526775"/>
                </a:solidFill>
                <a:latin typeface="Arial"/>
                <a:ea typeface="Arial"/>
                <a:cs typeface="Arial"/>
              </a:defRPr>
            </a:lvl9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8.893 clientes recientes quedan fuera de evaluación. Corte de datos: 14/02/2025 00:00 UTC.</a:t>
            </a:r>
          </a:p>
        </p:txBody>
      </p:sp>
    </p:spTree>
    <p:extLst>
      <p:ext uri="{BB962C8B-B14F-4D97-AF65-F5344CB8AC3E}">
        <p14:creationId xmlns:p14="http://schemas.microsoft.com/office/powerpoint/2010/main" val="1118460036"/>
      </p:ext>
    </p:extLst>
  </p:cSld>
</p:sld>
</file>

<file path=ppt/slides/slide4.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2F94A2-A86C-4C49-B2A1-E89C1936F0D4}"/>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La recompra cambia con el tiempo</a:t>
            </a:r>
          </a:p>
        </p:txBody>
      </p:sp>
      <p:sp>
        <p:nvSpPr>
          <p:cNvPr id="2" name="">
            <a:extLst xmlns:a="http://schemas.openxmlformats.org/drawingml/2006/main">
              <a:ext uri="{FF2B5EF4-FFF2-40B4-BE49-F238E27FC236}">
                <a16:creationId xmlns:a16="http://schemas.microsoft.com/office/drawing/2014/main" id="{89906145-ABB4-4C5A-80BD-796F05711B46}"/>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El comportamiento de clientes recientes difiere del histórico. Una campaña necesita evidencia actualizada.</a:t>
            </a:r>
          </a:p>
        </p:txBody>
      </p:sp>
      <p:sp>
        <p:nvSpPr>
          <p:cNvPr id="3" name="">
            <a:extLst xmlns:a="http://schemas.openxmlformats.org/drawingml/2006/main">
              <a:ext uri="{FF2B5EF4-FFF2-40B4-BE49-F238E27FC236}">
                <a16:creationId xmlns:a16="http://schemas.microsoft.com/office/drawing/2014/main" id="{58E8B3C4-0DA1-4FDB-92F9-B3337BE92C8C}"/>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CA297D9D-4AAC-4ACD-BD77-20BE40C7F5FD}"/>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5AFC98D-9DDB-4E90-A356-4A71E74EF25A}"/>
              </a:ext>
            </a:extLst>
          </p:cNvPr>
          <p:cNvSpPr>
            <a:spLocks xmlns:a="http://schemas.openxmlformats.org/drawingml/2006/main" noGrp="1"/>
          </p:cNvSpPr>
          <p:nvPr/>
        </p:nvSpPr>
        <p:spPr>
          <a:xfrm xmlns:a="http://schemas.openxmlformats.org/drawingml/2006/main">
            <a:off x="685800" y="27622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250" b="1">
                <a:solidFill>
                  <a:srgbClr val="9A315F"/>
                </a:solidFill>
                <a:latin typeface="Arial"/>
                <a:ea typeface="Arial"/>
                <a:cs typeface="Arial"/>
              </a:defRPr>
            </a:defPPr>
            <a:lvl1pPr>
              <a:defRPr sz="5250" b="1">
                <a:solidFill>
                  <a:srgbClr val="9A315F"/>
                </a:solidFill>
                <a:latin typeface="Arial"/>
                <a:ea typeface="Arial"/>
                <a:cs typeface="Arial"/>
              </a:defRPr>
            </a:lvl1pPr>
            <a:lvl2pPr>
              <a:defRPr sz="5250" b="1">
                <a:solidFill>
                  <a:srgbClr val="9A315F"/>
                </a:solidFill>
                <a:latin typeface="Arial"/>
                <a:ea typeface="Arial"/>
                <a:cs typeface="Arial"/>
              </a:defRPr>
            </a:lvl2pPr>
            <a:lvl3pPr>
              <a:defRPr sz="5250" b="1">
                <a:solidFill>
                  <a:srgbClr val="9A315F"/>
                </a:solidFill>
                <a:latin typeface="Arial"/>
                <a:ea typeface="Arial"/>
                <a:cs typeface="Arial"/>
              </a:defRPr>
            </a:lvl3pPr>
            <a:lvl4pPr>
              <a:defRPr sz="5250" b="1">
                <a:solidFill>
                  <a:srgbClr val="9A315F"/>
                </a:solidFill>
                <a:latin typeface="Arial"/>
                <a:ea typeface="Arial"/>
                <a:cs typeface="Arial"/>
              </a:defRPr>
            </a:lvl4pPr>
            <a:lvl5pPr>
              <a:defRPr sz="5250" b="1">
                <a:solidFill>
                  <a:srgbClr val="9A315F"/>
                </a:solidFill>
                <a:latin typeface="Arial"/>
                <a:ea typeface="Arial"/>
                <a:cs typeface="Arial"/>
              </a:defRPr>
            </a:lvl5pPr>
            <a:lvl6pPr>
              <a:defRPr sz="5250" b="1">
                <a:solidFill>
                  <a:srgbClr val="9A315F"/>
                </a:solidFill>
                <a:latin typeface="Arial"/>
                <a:ea typeface="Arial"/>
                <a:cs typeface="Arial"/>
              </a:defRPr>
            </a:lvl6pPr>
            <a:lvl7pPr>
              <a:defRPr sz="5250" b="1">
                <a:solidFill>
                  <a:srgbClr val="9A315F"/>
                </a:solidFill>
                <a:latin typeface="Arial"/>
                <a:ea typeface="Arial"/>
                <a:cs typeface="Arial"/>
              </a:defRPr>
            </a:lvl7pPr>
            <a:lvl8pPr>
              <a:defRPr sz="5250" b="1">
                <a:solidFill>
                  <a:srgbClr val="9A315F"/>
                </a:solidFill>
                <a:latin typeface="Arial"/>
                <a:ea typeface="Arial"/>
                <a:cs typeface="Arial"/>
              </a:defRPr>
            </a:lvl8pPr>
            <a:lvl9pPr>
              <a:defRPr sz="5250" b="1">
                <a:solidFill>
                  <a:srgbClr val="9A315F"/>
                </a:solidFill>
                <a:latin typeface="Arial"/>
                <a:ea typeface="Arial"/>
                <a:cs typeface="Arial"/>
              </a:defRPr>
            </a:lvl9pPr>
          </a:lstStyle>
          <a:p xmlns:a="http://schemas.openxmlformats.org/drawingml/2006/main">
            <a:pPr>
              <a:defRPr sz="5250" b="1">
                <a:solidFill>
                  <a:srgbClr val="9A315F"/>
                </a:solidFill>
                <a:latin typeface="Arial"/>
                <a:ea typeface="Arial"/>
                <a:cs typeface="Arial"/>
              </a:defRPr>
            </a:pPr>
            <a:r>
              <a:rPr sz="5250" b="1">
                <a:solidFill>
                  <a:srgbClr val="9A315F"/>
                </a:solidFill>
                <a:latin typeface="Arial"/>
                <a:ea typeface="Arial"/>
                <a:cs typeface="Arial"/>
              </a:rPr>
              <a:t>7,2%</a:t>
            </a:r>
          </a:p>
        </p:txBody>
      </p:sp>
      <p:sp>
        <p:nvSpPr>
          <p:cNvPr id="6" name="">
            <a:extLst xmlns:a="http://schemas.openxmlformats.org/drawingml/2006/main">
              <a:ext uri="{FF2B5EF4-FFF2-40B4-BE49-F238E27FC236}">
                <a16:creationId xmlns:a16="http://schemas.microsoft.com/office/drawing/2014/main" id="{C27ADCE3-1E00-46F7-A12E-6ECBDC60A111}"/>
              </a:ext>
            </a:extLst>
          </p:cNvPr>
          <p:cNvSpPr>
            <a:spLocks xmlns:a="http://schemas.openxmlformats.org/drawingml/2006/main" noGrp="1"/>
          </p:cNvSpPr>
          <p:nvPr/>
        </p:nvSpPr>
        <p:spPr>
          <a:xfrm xmlns:a="http://schemas.openxmlformats.org/drawingml/2006/main">
            <a:off x="685800" y="3724275"/>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2C40"/>
                </a:solidFill>
                <a:latin typeface="Arial"/>
                <a:ea typeface="Arial"/>
                <a:cs typeface="Arial"/>
              </a:defRPr>
            </a:defPPr>
            <a:lvl1pPr>
              <a:defRPr sz="2175" b="0">
                <a:solidFill>
                  <a:srgbClr val="152C40"/>
                </a:solidFill>
                <a:latin typeface="Arial"/>
                <a:ea typeface="Arial"/>
                <a:cs typeface="Arial"/>
              </a:defRPr>
            </a:lvl1pPr>
            <a:lvl2pPr>
              <a:defRPr sz="2175" b="0">
                <a:solidFill>
                  <a:srgbClr val="152C40"/>
                </a:solidFill>
                <a:latin typeface="Arial"/>
                <a:ea typeface="Arial"/>
                <a:cs typeface="Arial"/>
              </a:defRPr>
            </a:lvl2pPr>
            <a:lvl3pPr>
              <a:defRPr sz="2175" b="0">
                <a:solidFill>
                  <a:srgbClr val="152C40"/>
                </a:solidFill>
                <a:latin typeface="Arial"/>
                <a:ea typeface="Arial"/>
                <a:cs typeface="Arial"/>
              </a:defRPr>
            </a:lvl3pPr>
            <a:lvl4pPr>
              <a:defRPr sz="2175" b="0">
                <a:solidFill>
                  <a:srgbClr val="152C40"/>
                </a:solidFill>
                <a:latin typeface="Arial"/>
                <a:ea typeface="Arial"/>
                <a:cs typeface="Arial"/>
              </a:defRPr>
            </a:lvl4pPr>
            <a:lvl5pPr>
              <a:defRPr sz="2175" b="0">
                <a:solidFill>
                  <a:srgbClr val="152C40"/>
                </a:solidFill>
                <a:latin typeface="Arial"/>
                <a:ea typeface="Arial"/>
                <a:cs typeface="Arial"/>
              </a:defRPr>
            </a:lvl5pPr>
            <a:lvl6pPr>
              <a:defRPr sz="2175" b="0">
                <a:solidFill>
                  <a:srgbClr val="152C40"/>
                </a:solidFill>
                <a:latin typeface="Arial"/>
                <a:ea typeface="Arial"/>
                <a:cs typeface="Arial"/>
              </a:defRPr>
            </a:lvl6pPr>
            <a:lvl7pPr>
              <a:defRPr sz="2175" b="0">
                <a:solidFill>
                  <a:srgbClr val="152C40"/>
                </a:solidFill>
                <a:latin typeface="Arial"/>
                <a:ea typeface="Arial"/>
                <a:cs typeface="Arial"/>
              </a:defRPr>
            </a:lvl7pPr>
            <a:lvl8pPr>
              <a:defRPr sz="2175" b="0">
                <a:solidFill>
                  <a:srgbClr val="152C40"/>
                </a:solidFill>
                <a:latin typeface="Arial"/>
                <a:ea typeface="Arial"/>
                <a:cs typeface="Arial"/>
              </a:defRPr>
            </a:lvl8pPr>
            <a:lvl9pPr>
              <a:defRPr sz="2175" b="0">
                <a:solidFill>
                  <a:srgbClr val="152C40"/>
                </a:solidFill>
                <a:latin typeface="Arial"/>
                <a:ea typeface="Arial"/>
                <a:cs typeface="Arial"/>
              </a:defRPr>
            </a:lvl9pPr>
          </a:lstStyle>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recompró en 60 días</a:t>
            </a:r>
          </a:p>
        </p:txBody>
      </p:sp>
      <p:sp>
        <p:nvSpPr>
          <p:cNvPr id="7" name="">
            <a:extLst xmlns:a="http://schemas.openxmlformats.org/drawingml/2006/main">
              <a:ext uri="{FF2B5EF4-FFF2-40B4-BE49-F238E27FC236}">
                <a16:creationId xmlns:a16="http://schemas.microsoft.com/office/drawing/2014/main" id="{A38B2571-2C32-41F9-A270-D0BAE778788C}"/>
              </a:ext>
            </a:extLst>
          </p:cNvPr>
          <p:cNvSpPr>
            <a:spLocks xmlns:a="http://schemas.openxmlformats.org/drawingml/2006/main" noGrp="1"/>
          </p:cNvSpPr>
          <p:nvPr/>
        </p:nvSpPr>
        <p:spPr>
          <a:xfrm xmlns:a="http://schemas.openxmlformats.org/drawingml/2006/main">
            <a:off x="685800" y="4695825"/>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32657A"/>
                </a:solidFill>
                <a:latin typeface="Arial"/>
                <a:ea typeface="Arial"/>
                <a:cs typeface="Arial"/>
              </a:defRPr>
            </a:defPPr>
            <a:lvl1pPr>
              <a:defRPr sz="2850" b="1">
                <a:solidFill>
                  <a:srgbClr val="32657A"/>
                </a:solidFill>
                <a:latin typeface="Arial"/>
                <a:ea typeface="Arial"/>
                <a:cs typeface="Arial"/>
              </a:defRPr>
            </a:lvl1pPr>
            <a:lvl2pPr>
              <a:defRPr sz="2850" b="1">
                <a:solidFill>
                  <a:srgbClr val="32657A"/>
                </a:solidFill>
                <a:latin typeface="Arial"/>
                <a:ea typeface="Arial"/>
                <a:cs typeface="Arial"/>
              </a:defRPr>
            </a:lvl2pPr>
            <a:lvl3pPr>
              <a:defRPr sz="2850" b="1">
                <a:solidFill>
                  <a:srgbClr val="32657A"/>
                </a:solidFill>
                <a:latin typeface="Arial"/>
                <a:ea typeface="Arial"/>
                <a:cs typeface="Arial"/>
              </a:defRPr>
            </a:lvl3pPr>
            <a:lvl4pPr>
              <a:defRPr sz="2850" b="1">
                <a:solidFill>
                  <a:srgbClr val="32657A"/>
                </a:solidFill>
                <a:latin typeface="Arial"/>
                <a:ea typeface="Arial"/>
                <a:cs typeface="Arial"/>
              </a:defRPr>
            </a:lvl4pPr>
            <a:lvl5pPr>
              <a:defRPr sz="2850" b="1">
                <a:solidFill>
                  <a:srgbClr val="32657A"/>
                </a:solidFill>
                <a:latin typeface="Arial"/>
                <a:ea typeface="Arial"/>
                <a:cs typeface="Arial"/>
              </a:defRPr>
            </a:lvl5pPr>
            <a:lvl6pPr>
              <a:defRPr sz="2850" b="1">
                <a:solidFill>
                  <a:srgbClr val="32657A"/>
                </a:solidFill>
                <a:latin typeface="Arial"/>
                <a:ea typeface="Arial"/>
                <a:cs typeface="Arial"/>
              </a:defRPr>
            </a:lvl6pPr>
            <a:lvl7pPr>
              <a:defRPr sz="2850" b="1">
                <a:solidFill>
                  <a:srgbClr val="32657A"/>
                </a:solidFill>
                <a:latin typeface="Arial"/>
                <a:ea typeface="Arial"/>
                <a:cs typeface="Arial"/>
              </a:defRPr>
            </a:lvl7pPr>
            <a:lvl8pPr>
              <a:defRPr sz="2850" b="1">
                <a:solidFill>
                  <a:srgbClr val="32657A"/>
                </a:solidFill>
                <a:latin typeface="Arial"/>
                <a:ea typeface="Arial"/>
                <a:cs typeface="Arial"/>
              </a:defRPr>
            </a:lvl8pPr>
            <a:lvl9pPr>
              <a:defRPr sz="2850" b="1">
                <a:solidFill>
                  <a:srgbClr val="32657A"/>
                </a:solidFill>
                <a:latin typeface="Arial"/>
                <a:ea typeface="Arial"/>
                <a:cs typeface="Arial"/>
              </a:defRPr>
            </a:lvl9pPr>
          </a:lstStyle>
          <a:p xmlns:a="http://schemas.openxmlformats.org/drawingml/2006/main">
            <a:pPr>
              <a:defRPr sz="2850" b="1">
                <a:solidFill>
                  <a:srgbClr val="32657A"/>
                </a:solidFill>
                <a:latin typeface="Arial"/>
                <a:ea typeface="Arial"/>
                <a:cs typeface="Arial"/>
              </a:defRPr>
            </a:pPr>
            <a:r>
              <a:rPr sz="2850" b="1">
                <a:solidFill>
                  <a:srgbClr val="32657A"/>
                </a:solidFill>
                <a:latin typeface="Arial"/>
                <a:ea typeface="Arial"/>
                <a:cs typeface="Arial"/>
              </a:rPr>
              <a:t>29 días</a:t>
            </a:r>
          </a:p>
        </p:txBody>
      </p:sp>
      <p:sp>
        <p:nvSpPr>
          <p:cNvPr id="8" name="">
            <a:extLst xmlns:a="http://schemas.openxmlformats.org/drawingml/2006/main">
              <a:ext uri="{FF2B5EF4-FFF2-40B4-BE49-F238E27FC236}">
                <a16:creationId xmlns:a16="http://schemas.microsoft.com/office/drawing/2014/main" id="{89B83B97-7860-4A74-96A1-473F7E8D43C2}"/>
              </a:ext>
            </a:extLst>
          </p:cNvPr>
          <p:cNvSpPr>
            <a:spLocks xmlns:a="http://schemas.openxmlformats.org/drawingml/2006/main" noGrp="1"/>
          </p:cNvSpPr>
          <p:nvPr/>
        </p:nvSpPr>
        <p:spPr>
          <a:xfrm xmlns:a="http://schemas.openxmlformats.org/drawingml/2006/main">
            <a:off x="685800" y="52959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5"/>
                </a:solidFill>
                <a:latin typeface="Arial"/>
                <a:ea typeface="Arial"/>
                <a:cs typeface="Arial"/>
              </a:defRPr>
            </a:defPPr>
            <a:lvl1pPr>
              <a:defRPr sz="1875" b="0">
                <a:solidFill>
                  <a:srgbClr val="526775"/>
                </a:solidFill>
                <a:latin typeface="Arial"/>
                <a:ea typeface="Arial"/>
                <a:cs typeface="Arial"/>
              </a:defRPr>
            </a:lvl1pPr>
            <a:lvl2pPr>
              <a:defRPr sz="1875" b="0">
                <a:solidFill>
                  <a:srgbClr val="526775"/>
                </a:solidFill>
                <a:latin typeface="Arial"/>
                <a:ea typeface="Arial"/>
                <a:cs typeface="Arial"/>
              </a:defRPr>
            </a:lvl2pPr>
            <a:lvl3pPr>
              <a:defRPr sz="1875" b="0">
                <a:solidFill>
                  <a:srgbClr val="526775"/>
                </a:solidFill>
                <a:latin typeface="Arial"/>
                <a:ea typeface="Arial"/>
                <a:cs typeface="Arial"/>
              </a:defRPr>
            </a:lvl3pPr>
            <a:lvl4pPr>
              <a:defRPr sz="1875" b="0">
                <a:solidFill>
                  <a:srgbClr val="526775"/>
                </a:solidFill>
                <a:latin typeface="Arial"/>
                <a:ea typeface="Arial"/>
                <a:cs typeface="Arial"/>
              </a:defRPr>
            </a:lvl4pPr>
            <a:lvl5pPr>
              <a:defRPr sz="1875" b="0">
                <a:solidFill>
                  <a:srgbClr val="526775"/>
                </a:solidFill>
                <a:latin typeface="Arial"/>
                <a:ea typeface="Arial"/>
                <a:cs typeface="Arial"/>
              </a:defRPr>
            </a:lvl5pPr>
            <a:lvl6pPr>
              <a:defRPr sz="1875" b="0">
                <a:solidFill>
                  <a:srgbClr val="526775"/>
                </a:solidFill>
                <a:latin typeface="Arial"/>
                <a:ea typeface="Arial"/>
                <a:cs typeface="Arial"/>
              </a:defRPr>
            </a:lvl6pPr>
            <a:lvl7pPr>
              <a:defRPr sz="1875" b="0">
                <a:solidFill>
                  <a:srgbClr val="526775"/>
                </a:solidFill>
                <a:latin typeface="Arial"/>
                <a:ea typeface="Arial"/>
                <a:cs typeface="Arial"/>
              </a:defRPr>
            </a:lvl7pPr>
            <a:lvl8pPr>
              <a:defRPr sz="1875" b="0">
                <a:solidFill>
                  <a:srgbClr val="526775"/>
                </a:solidFill>
                <a:latin typeface="Arial"/>
                <a:ea typeface="Arial"/>
                <a:cs typeface="Arial"/>
              </a:defRPr>
            </a:lvl8pPr>
            <a:lvl9pPr>
              <a:defRPr sz="1875" b="0">
                <a:solidFill>
                  <a:srgbClr val="526775"/>
                </a:solidFill>
                <a:latin typeface="Arial"/>
                <a:ea typeface="Arial"/>
                <a:cs typeface="Arial"/>
              </a:defRPr>
            </a:lvl9pPr>
          </a:lstStyle>
          <a:p xmlns:a="http://schemas.openxmlformats.org/drawingml/2006/main">
            <a:pPr>
              <a:defRPr sz="1875" b="0">
                <a:solidFill>
                  <a:srgbClr val="526775"/>
                </a:solidFill>
                <a:latin typeface="Arial"/>
                <a:ea typeface="Arial"/>
                <a:cs typeface="Arial"/>
              </a:defRPr>
            </a:pPr>
            <a:r>
              <a:rPr sz="1875" b="0">
                <a:solidFill>
                  <a:srgbClr val="526775"/>
                </a:solidFill>
                <a:latin typeface="Arial"/>
                <a:ea typeface="Arial"/>
                <a:cs typeface="Arial"/>
              </a:rPr>
              <a:t>mediana entre compras</a:t>
            </a:r>
          </a:p>
          <a:p xmlns:a="http://schemas.openxmlformats.org/drawingml/2006/main">
            <a:pPr>
              <a:defRPr sz="1875" b="0">
                <a:solidFill>
                  <a:srgbClr val="526775"/>
                </a:solidFill>
                <a:latin typeface="Arial"/>
                <a:ea typeface="Arial"/>
                <a:cs typeface="Arial"/>
              </a:defRPr>
            </a:pPr>
            <a:r>
              <a:rPr sz="1875" b="0">
                <a:solidFill>
                  <a:srgbClr val="526775"/>
                </a:solidFill>
                <a:latin typeface="Arial"/>
                <a:ea typeface="Arial"/>
                <a:cs typeface="Arial"/>
              </a:rPr>
              <a:t>de quienes recompraron</a:t>
            </a:r>
          </a:p>
        </p:txBody>
      </p:sp>
      <p:graphicFrame>
        <p:nvGraphicFramePr>
          <p:cNvPr id="9" name="Chart">
            <a:extLst xmlns:a="http://schemas.openxmlformats.org/drawingml/2006/main">
              <a:ext uri="{FF2B5EF4-FFF2-40B4-BE49-F238E27FC236}">
                <a16:creationId xmlns:a16="http://schemas.microsoft.com/office/drawing/2014/main" id="{70655BB0-524A-4E3E-949C-83D2F4FDE27C}"/>
              </a:ext>
            </a:extLst>
          </p:cNvPr>
          <p:cNvGraphicFramePr/>
          <p:nvPr/>
        </p:nvGraphicFramePr>
        <p:xfrm>
          <a:off xmlns:a="http://schemas.openxmlformats.org/drawingml/2006/main" x="4476750" y="2667000"/>
          <a:ext xmlns:a="http://schemas.openxmlformats.org/drawingml/2006/main" cx="6858000" cy="3124200"/>
        </p:xfrm>
        <a:graphic xmlns:a="http://schemas.openxmlformats.org/drawingml/2006/main">
          <a:graphicData uri="http://schemas.openxmlformats.org/drawingml/2006/chart">
            <c:chart xmlns:r="http://schemas.openxmlformats.org/officeDocument/2006/relationships" xmlns:c="http://schemas.openxmlformats.org/drawingml/2006/chart" r:id="Rfc382cbc33074077"/>
          </a:graphicData>
        </a:graphic>
      </p:graphicFrame>
      <p:sp>
        <p:nvSpPr>
          <p:cNvPr id="10" name="">
            <a:extLst xmlns:a="http://schemas.openxmlformats.org/drawingml/2006/main">
              <a:ext uri="{FF2B5EF4-FFF2-40B4-BE49-F238E27FC236}">
                <a16:creationId xmlns:a16="http://schemas.microsoft.com/office/drawing/2014/main" id="{A9846259-AB22-47F6-AE53-90F5BE8EBABC}"/>
              </a:ext>
            </a:extLst>
          </p:cNvPr>
          <p:cNvSpPr>
            <a:spLocks xmlns:a="http://schemas.openxmlformats.org/drawingml/2006/main" noGrp="1"/>
          </p:cNvSpPr>
          <p:nvPr/>
        </p:nvSpPr>
        <p:spPr>
          <a:xfrm xmlns:a="http://schemas.openxmlformats.org/drawingml/2006/main">
            <a:off x="4476750" y="60007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775"/>
                </a:solidFill>
                <a:latin typeface="Arial"/>
                <a:ea typeface="Arial"/>
                <a:cs typeface="Arial"/>
              </a:defRPr>
            </a:defPPr>
            <a:lvl1pPr>
              <a:defRPr sz="1350" b="0">
                <a:solidFill>
                  <a:srgbClr val="526775"/>
                </a:solidFill>
                <a:latin typeface="Arial"/>
                <a:ea typeface="Arial"/>
                <a:cs typeface="Arial"/>
              </a:defRPr>
            </a:lvl1pPr>
            <a:lvl2pPr>
              <a:defRPr sz="1350" b="0">
                <a:solidFill>
                  <a:srgbClr val="526775"/>
                </a:solidFill>
                <a:latin typeface="Arial"/>
                <a:ea typeface="Arial"/>
                <a:cs typeface="Arial"/>
              </a:defRPr>
            </a:lvl2pPr>
            <a:lvl3pPr>
              <a:defRPr sz="1350" b="0">
                <a:solidFill>
                  <a:srgbClr val="526775"/>
                </a:solidFill>
                <a:latin typeface="Arial"/>
                <a:ea typeface="Arial"/>
                <a:cs typeface="Arial"/>
              </a:defRPr>
            </a:lvl3pPr>
            <a:lvl4pPr>
              <a:defRPr sz="1350" b="0">
                <a:solidFill>
                  <a:srgbClr val="526775"/>
                </a:solidFill>
                <a:latin typeface="Arial"/>
                <a:ea typeface="Arial"/>
                <a:cs typeface="Arial"/>
              </a:defRPr>
            </a:lvl4pPr>
            <a:lvl5pPr>
              <a:defRPr sz="1350" b="0">
                <a:solidFill>
                  <a:srgbClr val="526775"/>
                </a:solidFill>
                <a:latin typeface="Arial"/>
                <a:ea typeface="Arial"/>
                <a:cs typeface="Arial"/>
              </a:defRPr>
            </a:lvl5pPr>
            <a:lvl6pPr>
              <a:defRPr sz="1350" b="0">
                <a:solidFill>
                  <a:srgbClr val="526775"/>
                </a:solidFill>
                <a:latin typeface="Arial"/>
                <a:ea typeface="Arial"/>
                <a:cs typeface="Arial"/>
              </a:defRPr>
            </a:lvl6pPr>
            <a:lvl7pPr>
              <a:defRPr sz="1350" b="0">
                <a:solidFill>
                  <a:srgbClr val="526775"/>
                </a:solidFill>
                <a:latin typeface="Arial"/>
                <a:ea typeface="Arial"/>
                <a:cs typeface="Arial"/>
              </a:defRPr>
            </a:lvl7pPr>
            <a:lvl8pPr>
              <a:defRPr sz="1350" b="0">
                <a:solidFill>
                  <a:srgbClr val="526775"/>
                </a:solidFill>
                <a:latin typeface="Arial"/>
                <a:ea typeface="Arial"/>
                <a:cs typeface="Arial"/>
              </a:defRPr>
            </a:lvl8pPr>
            <a:lvl9pPr>
              <a:defRPr sz="1350" b="0">
                <a:solidFill>
                  <a:srgbClr val="526775"/>
                </a:solidFill>
                <a:latin typeface="Arial"/>
                <a:ea typeface="Arial"/>
                <a:cs typeface="Arial"/>
              </a:defRPr>
            </a:lvl9pPr>
          </a:lstStyle>
          <a:p xmlns:a="http://schemas.openxmlformats.org/drawingml/2006/main">
            <a:pPr>
              <a:defRPr sz="1350" b="0">
                <a:solidFill>
                  <a:srgbClr val="526775"/>
                </a:solidFill>
                <a:latin typeface="Arial"/>
                <a:ea typeface="Arial"/>
                <a:cs typeface="Arial"/>
              </a:defRPr>
            </a:pPr>
            <a:r>
              <a:rPr sz="1350" b="0">
                <a:solidFill>
                  <a:srgbClr val="526775"/>
                </a:solidFill>
                <a:latin typeface="Arial"/>
                <a:ea typeface="Arial"/>
                <a:cs typeface="Arial"/>
              </a:rPr>
              <a:t>Mes de primera orden en 2024, solo clientes con seguimiento completo</a:t>
            </a:r>
          </a:p>
        </p:txBody>
      </p:sp>
    </p:spTree>
    <p:extLst>
      <p:ext uri="{BB962C8B-B14F-4D97-AF65-F5344CB8AC3E}">
        <p14:creationId xmlns:p14="http://schemas.microsoft.com/office/powerpoint/2010/main" val="283631402"/>
      </p:ext>
    </p:extLst>
  </p:cSld>
</p:sld>
</file>

<file path=ppt/slides/slide5.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E13145-9CE8-44A8-AA8D-417252A60D43}"/>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La prueba representa a clientes futuros</a:t>
            </a:r>
          </a:p>
        </p:txBody>
      </p:sp>
      <p:sp>
        <p:nvSpPr>
          <p:cNvPr id="2" name="">
            <a:extLst xmlns:a="http://schemas.openxmlformats.org/drawingml/2006/main">
              <a:ext uri="{FF2B5EF4-FFF2-40B4-BE49-F238E27FC236}">
                <a16:creationId xmlns:a16="http://schemas.microsoft.com/office/drawing/2014/main" id="{4E41A3D8-BF8C-41D8-840E-02B0055E8497}"/>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Aprendí del pasado y comprobé el resultado en clientes posteriores, sin mezclar información del futuro.</a:t>
            </a:r>
          </a:p>
        </p:txBody>
      </p:sp>
      <p:sp>
        <p:nvSpPr>
          <p:cNvPr id="3" name="">
            <a:extLst xmlns:a="http://schemas.openxmlformats.org/drawingml/2006/main">
              <a:ext uri="{FF2B5EF4-FFF2-40B4-BE49-F238E27FC236}">
                <a16:creationId xmlns:a16="http://schemas.microsoft.com/office/drawing/2014/main" id="{C4D7BE0E-7831-4005-90AE-0ADDEC6A2F11}"/>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801E0FDE-733F-40BA-8E41-598DDF9729D7}"/>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F9FF9063-F4BD-492F-8436-9403EB94D45D}"/>
              </a:ext>
            </a:extLst>
          </p:cNvPr>
          <p:cNvGraphicFramePr/>
          <p:nvPr/>
        </p:nvGraphicFramePr>
        <p:xfrm>
          <a:off xmlns:a="http://schemas.openxmlformats.org/drawingml/2006/main" x="685800" y="2695575"/>
          <a:ext xmlns:a="http://schemas.openxmlformats.org/drawingml/2006/main" cx="10820400" cy="2381250"/>
        </p:xfrm>
        <a:graphic xmlns:a="http://schemas.openxmlformats.org/drawingml/2006/main">
          <a:graphicData uri="http://schemas.openxmlformats.org/drawingml/2006/table">
            <a:tbl>
              <a:tblPr/>
              <a:tblGrid>
                <a:gridCol w="4762500"/>
                <a:gridCol w="1714500"/>
                <a:gridCol w="4343400"/>
              </a:tblGrid>
              <a:tr h="595313">
                <a:tc>
                  <a:txBody>
                    <a:bodyPr/>
                    <a:lstStyle/>
                    <a:p>
                      <a:r>
                        <a:rPr sz="1800" b="1">
                          <a:solidFill>
                            <a:srgbClr val="FFFFFF"/>
                          </a:solidFill>
                          <a:latin typeface="Arial"/>
                          <a:ea typeface="Arial"/>
                          <a:cs typeface="Arial"/>
                        </a:rPr>
                        <a:t>Etapa</a:t>
                      </a:r>
                    </a:p>
                  </a:txBody>
                  <a:tcPr marL="91440" marR="91440" marT="45720" marB="45720">
                    <a:solidFill>
                      <a:srgbClr val="152C40"/>
                    </a:solidFill>
                  </a:tcPr>
                </a:tc>
                <a:tc>
                  <a:txBody>
                    <a:bodyPr/>
                    <a:lstStyle/>
                    <a:p>
                      <a:r>
                        <a:rPr sz="1800" b="1">
                          <a:solidFill>
                            <a:srgbClr val="FFFFFF"/>
                          </a:solidFill>
                          <a:latin typeface="Arial"/>
                          <a:ea typeface="Arial"/>
                          <a:cs typeface="Arial"/>
                        </a:rPr>
                        <a:t>Clientes</a:t>
                      </a:r>
                    </a:p>
                  </a:txBody>
                  <a:tcPr marL="91440" marR="91440" marT="45720" marB="45720">
                    <a:solidFill>
                      <a:srgbClr val="152C40"/>
                    </a:solidFill>
                  </a:tcPr>
                </a:tc>
                <a:tc>
                  <a:txBody>
                    <a:bodyPr/>
                    <a:lstStyle/>
                    <a:p>
                      <a:r>
                        <a:rPr sz="1800" b="1">
                          <a:solidFill>
                            <a:srgbClr val="FFFFFF"/>
                          </a:solidFill>
                          <a:latin typeface="Arial"/>
                          <a:ea typeface="Arial"/>
                          <a:cs typeface="Arial"/>
                        </a:rPr>
                        <a:t>Qué permite decidir</a:t>
                      </a:r>
                    </a:p>
                  </a:txBody>
                  <a:tcPr marL="91440" marR="91440" marT="45720" marB="45720">
                    <a:solidFill>
                      <a:srgbClr val="152C40"/>
                    </a:solidFill>
                  </a:tcPr>
                </a:tc>
              </a:tr>
              <a:tr h="595313">
                <a:tc>
                  <a:txBody>
                    <a:bodyPr/>
                    <a:lstStyle/>
                    <a:p>
                      <a:r>
                        <a:rPr sz="1800" b="0">
                          <a:solidFill>
                            <a:srgbClr val="152C40"/>
                          </a:solidFill>
                          <a:latin typeface="Arial"/>
                          <a:ea typeface="Arial"/>
                          <a:cs typeface="Arial"/>
                        </a:rPr>
                        <a:t>Aprender del histórico</a:t>
                      </a:r>
                    </a:p>
                  </a:txBody>
                  <a:tcPr marL="91440" marR="91440" marT="45720" marB="45720">
                    <a:solidFill>
                      <a:srgbClr val="F0ECEF"/>
                    </a:solidFill>
                  </a:tcPr>
                </a:tc>
                <a:tc>
                  <a:txBody>
                    <a:bodyPr/>
                    <a:lstStyle/>
                    <a:p>
                      <a:r>
                        <a:rPr sz="1800" b="0">
                          <a:solidFill>
                            <a:srgbClr val="152C40"/>
                          </a:solidFill>
                          <a:latin typeface="Arial"/>
                          <a:ea typeface="Arial"/>
                          <a:cs typeface="Arial"/>
                        </a:rPr>
                        <a:t>41.576</a:t>
                      </a:r>
                    </a:p>
                  </a:txBody>
                  <a:tcPr marL="91440" marR="91440" marT="45720" marB="45720">
                    <a:solidFill>
                      <a:srgbClr val="F0ECEF"/>
                    </a:solidFill>
                  </a:tcPr>
                </a:tc>
                <a:tc>
                  <a:txBody>
                    <a:bodyPr/>
                    <a:lstStyle/>
                    <a:p>
                      <a:r>
                        <a:rPr sz="1800" b="0">
                          <a:solidFill>
                            <a:srgbClr val="152C40"/>
                          </a:solidFill>
                          <a:latin typeface="Arial"/>
                          <a:ea typeface="Arial"/>
                          <a:cs typeface="Arial"/>
                        </a:rPr>
                        <a:t>Encontrar patrones de compra</a:t>
                      </a:r>
                    </a:p>
                  </a:txBody>
                  <a:tcPr marL="91440" marR="91440" marT="45720" marB="45720">
                    <a:solidFill>
                      <a:srgbClr val="F0ECEF"/>
                    </a:solidFill>
                  </a:tcPr>
                </a:tc>
              </a:tr>
              <a:tr h="595313">
                <a:tc>
                  <a:txBody>
                    <a:bodyPr/>
                    <a:lstStyle/>
                    <a:p>
                      <a:r>
                        <a:rPr sz="1800" b="0">
                          <a:solidFill>
                            <a:srgbClr val="152C40"/>
                          </a:solidFill>
                          <a:latin typeface="Arial"/>
                          <a:ea typeface="Arial"/>
                          <a:cs typeface="Arial"/>
                        </a:rPr>
                        <a:t>Elegir la alternativa</a:t>
                      </a:r>
                    </a:p>
                  </a:txBody>
                  <a:tcPr marL="91440" marR="91440" marT="45720" marB="45720">
                    <a:solidFill>
                      <a:srgbClr val="FFFFFF"/>
                    </a:solidFill>
                  </a:tcPr>
                </a:tc>
                <a:tc>
                  <a:txBody>
                    <a:bodyPr/>
                    <a:lstStyle/>
                    <a:p>
                      <a:r>
                        <a:rPr sz="1800" b="0">
                          <a:solidFill>
                            <a:srgbClr val="152C40"/>
                          </a:solidFill>
                          <a:latin typeface="Arial"/>
                          <a:ea typeface="Arial"/>
                          <a:cs typeface="Arial"/>
                        </a:rPr>
                        <a:t>11.677</a:t>
                      </a:r>
                    </a:p>
                  </a:txBody>
                  <a:tcPr marL="91440" marR="91440" marT="45720" marB="45720">
                    <a:solidFill>
                      <a:srgbClr val="FFFFFF"/>
                    </a:solidFill>
                  </a:tcPr>
                </a:tc>
                <a:tc>
                  <a:txBody>
                    <a:bodyPr/>
                    <a:lstStyle/>
                    <a:p>
                      <a:r>
                        <a:rPr sz="1800" b="0">
                          <a:solidFill>
                            <a:srgbClr val="152C40"/>
                          </a:solidFill>
                          <a:latin typeface="Arial"/>
                          <a:ea typeface="Arial"/>
                          <a:cs typeface="Arial"/>
                        </a:rPr>
                        <a:t>Comparar modelos y fijar la regla</a:t>
                      </a:r>
                    </a:p>
                  </a:txBody>
                  <a:tcPr marL="91440" marR="91440" marT="45720" marB="45720">
                    <a:solidFill>
                      <a:srgbClr val="FFFFFF"/>
                    </a:solidFill>
                  </a:tcPr>
                </a:tc>
              </a:tr>
              <a:tr h="595313">
                <a:tc>
                  <a:txBody>
                    <a:bodyPr/>
                    <a:lstStyle/>
                    <a:p>
                      <a:r>
                        <a:rPr sz="1800" b="0">
                          <a:solidFill>
                            <a:srgbClr val="152C40"/>
                          </a:solidFill>
                          <a:latin typeface="Arial"/>
                          <a:ea typeface="Arial"/>
                          <a:cs typeface="Arial"/>
                        </a:rPr>
                        <a:t>Comprobar en clientes posteriores</a:t>
                      </a:r>
                    </a:p>
                  </a:txBody>
                  <a:tcPr marL="91440" marR="91440" marT="45720" marB="45720">
                    <a:solidFill>
                      <a:srgbClr val="F0ECEF"/>
                    </a:solidFill>
                  </a:tcPr>
                </a:tc>
                <a:tc>
                  <a:txBody>
                    <a:bodyPr/>
                    <a:lstStyle/>
                    <a:p>
                      <a:r>
                        <a:rPr sz="1800" b="0">
                          <a:solidFill>
                            <a:srgbClr val="152C40"/>
                          </a:solidFill>
                          <a:latin typeface="Arial"/>
                          <a:ea typeface="Arial"/>
                          <a:cs typeface="Arial"/>
                        </a:rPr>
                        <a:t>9.390</a:t>
                      </a:r>
                    </a:p>
                  </a:txBody>
                  <a:tcPr marL="91440" marR="91440" marT="45720" marB="45720">
                    <a:solidFill>
                      <a:srgbClr val="F0ECEF"/>
                    </a:solidFill>
                  </a:tcPr>
                </a:tc>
                <a:tc>
                  <a:txBody>
                    <a:bodyPr/>
                    <a:lstStyle/>
                    <a:p>
                      <a:r>
                        <a:rPr sz="1800" b="0">
                          <a:solidFill>
                            <a:srgbClr val="152C40"/>
                          </a:solidFill>
                          <a:latin typeface="Arial"/>
                          <a:ea typeface="Arial"/>
                          <a:cs typeface="Arial"/>
                        </a:rPr>
                        <a:t>Medir el resultado final</a:t>
                      </a:r>
                    </a:p>
                  </a:txBody>
                  <a:tcPr marL="91440" marR="91440" marT="45720" marB="45720">
                    <a:solidFill>
                      <a:srgbClr val="F0ECEF"/>
                    </a:solidFill>
                  </a:tcPr>
                </a:tc>
              </a:tr>
            </a:tbl>
          </a:graphicData>
        </a:graphic>
      </p:graphicFrame>
      <p:sp>
        <p:nvSpPr>
          <p:cNvPr id="6" name="">
            <a:extLst xmlns:a="http://schemas.openxmlformats.org/drawingml/2006/main">
              <a:ext uri="{FF2B5EF4-FFF2-40B4-BE49-F238E27FC236}">
                <a16:creationId xmlns:a16="http://schemas.microsoft.com/office/drawing/2014/main" id="{5AB0E1B0-3EE0-42B9-B7FD-1455F8033F12}"/>
              </a:ext>
            </a:extLst>
          </p:cNvPr>
          <p:cNvSpPr>
            <a:spLocks xmlns:a="http://schemas.openxmlformats.org/drawingml/2006/main" noGrp="1"/>
          </p:cNvSpPr>
          <p:nvPr/>
        </p:nvSpPr>
        <p:spPr>
          <a:xfrm xmlns:a="http://schemas.openxmlformats.org/drawingml/2006/main">
            <a:off x="685800" y="55435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9A315F"/>
                </a:solidFill>
                <a:latin typeface="Arial"/>
                <a:ea typeface="Arial"/>
                <a:cs typeface="Arial"/>
              </a:defRPr>
            </a:defPPr>
            <a:lvl1pPr>
              <a:defRPr sz="2175" b="1">
                <a:solidFill>
                  <a:srgbClr val="9A315F"/>
                </a:solidFill>
                <a:latin typeface="Arial"/>
                <a:ea typeface="Arial"/>
                <a:cs typeface="Arial"/>
              </a:defRPr>
            </a:lvl1pPr>
            <a:lvl2pPr>
              <a:defRPr sz="2175" b="1">
                <a:solidFill>
                  <a:srgbClr val="9A315F"/>
                </a:solidFill>
                <a:latin typeface="Arial"/>
                <a:ea typeface="Arial"/>
                <a:cs typeface="Arial"/>
              </a:defRPr>
            </a:lvl2pPr>
            <a:lvl3pPr>
              <a:defRPr sz="2175" b="1">
                <a:solidFill>
                  <a:srgbClr val="9A315F"/>
                </a:solidFill>
                <a:latin typeface="Arial"/>
                <a:ea typeface="Arial"/>
                <a:cs typeface="Arial"/>
              </a:defRPr>
            </a:lvl3pPr>
            <a:lvl4pPr>
              <a:defRPr sz="2175" b="1">
                <a:solidFill>
                  <a:srgbClr val="9A315F"/>
                </a:solidFill>
                <a:latin typeface="Arial"/>
                <a:ea typeface="Arial"/>
                <a:cs typeface="Arial"/>
              </a:defRPr>
            </a:lvl4pPr>
            <a:lvl5pPr>
              <a:defRPr sz="2175" b="1">
                <a:solidFill>
                  <a:srgbClr val="9A315F"/>
                </a:solidFill>
                <a:latin typeface="Arial"/>
                <a:ea typeface="Arial"/>
                <a:cs typeface="Arial"/>
              </a:defRPr>
            </a:lvl5pPr>
            <a:lvl6pPr>
              <a:defRPr sz="2175" b="1">
                <a:solidFill>
                  <a:srgbClr val="9A315F"/>
                </a:solidFill>
                <a:latin typeface="Arial"/>
                <a:ea typeface="Arial"/>
                <a:cs typeface="Arial"/>
              </a:defRPr>
            </a:lvl6pPr>
            <a:lvl7pPr>
              <a:defRPr sz="2175" b="1">
                <a:solidFill>
                  <a:srgbClr val="9A315F"/>
                </a:solidFill>
                <a:latin typeface="Arial"/>
                <a:ea typeface="Arial"/>
                <a:cs typeface="Arial"/>
              </a:defRPr>
            </a:lvl7pPr>
            <a:lvl8pPr>
              <a:defRPr sz="2175" b="1">
                <a:solidFill>
                  <a:srgbClr val="9A315F"/>
                </a:solidFill>
                <a:latin typeface="Arial"/>
                <a:ea typeface="Arial"/>
                <a:cs typeface="Arial"/>
              </a:defRPr>
            </a:lvl8pPr>
            <a:lvl9pPr>
              <a:defRPr sz="2175" b="1">
                <a:solidFill>
                  <a:srgbClr val="9A315F"/>
                </a:solidFill>
                <a:latin typeface="Arial"/>
                <a:ea typeface="Arial"/>
                <a:cs typeface="Arial"/>
              </a:defRPr>
            </a:lvl9pPr>
          </a:lstStyle>
          <a:p xmlns:a="http://schemas.openxmlformats.org/drawingml/2006/main">
            <a:pPr>
              <a:defRPr sz="2175" b="1">
                <a:solidFill>
                  <a:srgbClr val="9A315F"/>
                </a:solidFill>
                <a:latin typeface="Arial"/>
                <a:ea typeface="Arial"/>
                <a:cs typeface="Arial"/>
              </a:defRPr>
            </a:pPr>
            <a:r>
              <a:rPr sz="2175" b="1">
                <a:solidFill>
                  <a:srgbClr val="9A315F"/>
                </a:solidFill>
                <a:latin typeface="Arial"/>
                <a:ea typeface="Arial"/>
                <a:cs typeface="Arial"/>
              </a:rPr>
              <a:t>Comparé una referencia sencilla y dos modelos de clasificación</a:t>
            </a:r>
          </a:p>
        </p:txBody>
      </p:sp>
      <p:sp>
        <p:nvSpPr>
          <p:cNvPr id="7" name="">
            <a:extLst xmlns:a="http://schemas.openxmlformats.org/drawingml/2006/main">
              <a:ext uri="{FF2B5EF4-FFF2-40B4-BE49-F238E27FC236}">
                <a16:creationId xmlns:a16="http://schemas.microsoft.com/office/drawing/2014/main" id="{6300845F-CD5A-40FC-9038-9A26BBCD1A8F}"/>
              </a:ext>
            </a:extLst>
          </p:cNvPr>
          <p:cNvSpPr>
            <a:spLocks xmlns:a="http://schemas.openxmlformats.org/drawingml/2006/main" noGrp="1"/>
          </p:cNvSpPr>
          <p:nvPr/>
        </p:nvSpPr>
        <p:spPr>
          <a:xfrm xmlns:a="http://schemas.openxmlformats.org/drawingml/2006/main">
            <a:off x="685800" y="61150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5"/>
                </a:solidFill>
                <a:latin typeface="Arial"/>
                <a:ea typeface="Arial"/>
                <a:cs typeface="Arial"/>
              </a:defRPr>
            </a:defPPr>
            <a:lvl1pPr>
              <a:defRPr sz="1500" b="0">
                <a:solidFill>
                  <a:srgbClr val="526775"/>
                </a:solidFill>
                <a:latin typeface="Arial"/>
                <a:ea typeface="Arial"/>
                <a:cs typeface="Arial"/>
              </a:defRPr>
            </a:lvl1pPr>
            <a:lvl2pPr>
              <a:defRPr sz="1500" b="0">
                <a:solidFill>
                  <a:srgbClr val="526775"/>
                </a:solidFill>
                <a:latin typeface="Arial"/>
                <a:ea typeface="Arial"/>
                <a:cs typeface="Arial"/>
              </a:defRPr>
            </a:lvl2pPr>
            <a:lvl3pPr>
              <a:defRPr sz="1500" b="0">
                <a:solidFill>
                  <a:srgbClr val="526775"/>
                </a:solidFill>
                <a:latin typeface="Arial"/>
                <a:ea typeface="Arial"/>
                <a:cs typeface="Arial"/>
              </a:defRPr>
            </a:lvl3pPr>
            <a:lvl4pPr>
              <a:defRPr sz="1500" b="0">
                <a:solidFill>
                  <a:srgbClr val="526775"/>
                </a:solidFill>
                <a:latin typeface="Arial"/>
                <a:ea typeface="Arial"/>
                <a:cs typeface="Arial"/>
              </a:defRPr>
            </a:lvl4pPr>
            <a:lvl5pPr>
              <a:defRPr sz="1500" b="0">
                <a:solidFill>
                  <a:srgbClr val="526775"/>
                </a:solidFill>
                <a:latin typeface="Arial"/>
                <a:ea typeface="Arial"/>
                <a:cs typeface="Arial"/>
              </a:defRPr>
            </a:lvl5pPr>
            <a:lvl6pPr>
              <a:defRPr sz="1500" b="0">
                <a:solidFill>
                  <a:srgbClr val="526775"/>
                </a:solidFill>
                <a:latin typeface="Arial"/>
                <a:ea typeface="Arial"/>
                <a:cs typeface="Arial"/>
              </a:defRPr>
            </a:lvl6pPr>
            <a:lvl7pPr>
              <a:defRPr sz="1500" b="0">
                <a:solidFill>
                  <a:srgbClr val="526775"/>
                </a:solidFill>
                <a:latin typeface="Arial"/>
                <a:ea typeface="Arial"/>
                <a:cs typeface="Arial"/>
              </a:defRPr>
            </a:lvl7pPr>
            <a:lvl8pPr>
              <a:defRPr sz="1500" b="0">
                <a:solidFill>
                  <a:srgbClr val="526775"/>
                </a:solidFill>
                <a:latin typeface="Arial"/>
                <a:ea typeface="Arial"/>
                <a:cs typeface="Arial"/>
              </a:defRPr>
            </a:lvl8pPr>
            <a:lvl9pPr>
              <a:defRPr sz="1500" b="0">
                <a:solidFill>
                  <a:srgbClr val="526775"/>
                </a:solidFill>
                <a:latin typeface="Arial"/>
                <a:ea typeface="Arial"/>
                <a:cs typeface="Arial"/>
              </a:defRPr>
            </a:lvl9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Períodos y detalle técnico en el notebook. Las etiquetas anteriores tienen 60 días para madurar.</a:t>
            </a:r>
          </a:p>
        </p:txBody>
      </p:sp>
    </p:spTree>
    <p:extLst>
      <p:ext uri="{BB962C8B-B14F-4D97-AF65-F5344CB8AC3E}">
        <p14:creationId xmlns:p14="http://schemas.microsoft.com/office/powerpoint/2010/main" val="2077353298"/>
      </p:ext>
    </p:extLst>
  </p:cSld>
</p:sld>
</file>

<file path=ppt/slides/slide6.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3BABAA-E62D-4A48-8AB9-0642B07D4D45}"/>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El modelo aún no mejora la selección comercial</a:t>
            </a:r>
          </a:p>
        </p:txBody>
      </p:sp>
      <p:sp>
        <p:nvSpPr>
          <p:cNvPr id="2" name="">
            <a:extLst xmlns:a="http://schemas.openxmlformats.org/drawingml/2006/main">
              <a:ext uri="{FF2B5EF4-FFF2-40B4-BE49-F238E27FC236}">
                <a16:creationId xmlns:a16="http://schemas.microsoft.com/office/drawing/2014/main" id="{D130A65D-1461-4DDF-B37A-C54F26CCA1EA}"/>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Contactar al 20% mejor puntuado identifica prácticamente los mismos recompradores que una selección aleatoria.</a:t>
            </a:r>
          </a:p>
        </p:txBody>
      </p:sp>
      <p:sp>
        <p:nvSpPr>
          <p:cNvPr id="3" name="">
            <a:extLst xmlns:a="http://schemas.openxmlformats.org/drawingml/2006/main">
              <a:ext uri="{FF2B5EF4-FFF2-40B4-BE49-F238E27FC236}">
                <a16:creationId xmlns:a16="http://schemas.microsoft.com/office/drawing/2014/main" id="{6A253C85-2421-4C03-B04E-951E2D162B4F}"/>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78DD50C1-247C-4F6B-814F-1A17421B8354}"/>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698FC52-23DD-4BC7-A5F9-91177FE9A3F3}"/>
              </a:ext>
            </a:extLst>
          </p:cNvPr>
          <p:cNvSpPr>
            <a:spLocks xmlns:a="http://schemas.openxmlformats.org/drawingml/2006/main" noGrp="1"/>
          </p:cNvSpPr>
          <p:nvPr/>
        </p:nvSpPr>
        <p:spPr>
          <a:xfrm xmlns:a="http://schemas.openxmlformats.org/drawingml/2006/main">
            <a:off x="685800" y="2724150"/>
            <a:ext cx="428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9A315F"/>
                </a:solidFill>
                <a:latin typeface="Arial"/>
                <a:ea typeface="Arial"/>
                <a:cs typeface="Arial"/>
              </a:defRPr>
            </a:defPPr>
            <a:lvl1pPr>
              <a:defRPr sz="5100" b="1">
                <a:solidFill>
                  <a:srgbClr val="9A315F"/>
                </a:solidFill>
                <a:latin typeface="Arial"/>
                <a:ea typeface="Arial"/>
                <a:cs typeface="Arial"/>
              </a:defRPr>
            </a:lvl1pPr>
            <a:lvl2pPr>
              <a:defRPr sz="5100" b="1">
                <a:solidFill>
                  <a:srgbClr val="9A315F"/>
                </a:solidFill>
                <a:latin typeface="Arial"/>
                <a:ea typeface="Arial"/>
                <a:cs typeface="Arial"/>
              </a:defRPr>
            </a:lvl2pPr>
            <a:lvl3pPr>
              <a:defRPr sz="5100" b="1">
                <a:solidFill>
                  <a:srgbClr val="9A315F"/>
                </a:solidFill>
                <a:latin typeface="Arial"/>
                <a:ea typeface="Arial"/>
                <a:cs typeface="Arial"/>
              </a:defRPr>
            </a:lvl3pPr>
            <a:lvl4pPr>
              <a:defRPr sz="5100" b="1">
                <a:solidFill>
                  <a:srgbClr val="9A315F"/>
                </a:solidFill>
                <a:latin typeface="Arial"/>
                <a:ea typeface="Arial"/>
                <a:cs typeface="Arial"/>
              </a:defRPr>
            </a:lvl4pPr>
            <a:lvl5pPr>
              <a:defRPr sz="5100" b="1">
                <a:solidFill>
                  <a:srgbClr val="9A315F"/>
                </a:solidFill>
                <a:latin typeface="Arial"/>
                <a:ea typeface="Arial"/>
                <a:cs typeface="Arial"/>
              </a:defRPr>
            </a:lvl5pPr>
            <a:lvl6pPr>
              <a:defRPr sz="5100" b="1">
                <a:solidFill>
                  <a:srgbClr val="9A315F"/>
                </a:solidFill>
                <a:latin typeface="Arial"/>
                <a:ea typeface="Arial"/>
                <a:cs typeface="Arial"/>
              </a:defRPr>
            </a:lvl6pPr>
            <a:lvl7pPr>
              <a:defRPr sz="5100" b="1">
                <a:solidFill>
                  <a:srgbClr val="9A315F"/>
                </a:solidFill>
                <a:latin typeface="Arial"/>
                <a:ea typeface="Arial"/>
                <a:cs typeface="Arial"/>
              </a:defRPr>
            </a:lvl7pPr>
            <a:lvl8pPr>
              <a:defRPr sz="5100" b="1">
                <a:solidFill>
                  <a:srgbClr val="9A315F"/>
                </a:solidFill>
                <a:latin typeface="Arial"/>
                <a:ea typeface="Arial"/>
                <a:cs typeface="Arial"/>
              </a:defRPr>
            </a:lvl8pPr>
            <a:lvl9pPr>
              <a:defRPr sz="5100" b="1">
                <a:solidFill>
                  <a:srgbClr val="9A315F"/>
                </a:solidFill>
                <a:latin typeface="Arial"/>
                <a:ea typeface="Arial"/>
                <a:cs typeface="Arial"/>
              </a:defRPr>
            </a:lvl9pPr>
          </a:lstStyle>
          <a:p xmlns:a="http://schemas.openxmlformats.org/drawingml/2006/main">
            <a:pPr>
              <a:defRPr sz="5100" b="1">
                <a:solidFill>
                  <a:srgbClr val="9A315F"/>
                </a:solidFill>
                <a:latin typeface="Arial"/>
                <a:ea typeface="Arial"/>
                <a:cs typeface="Arial"/>
              </a:defRPr>
            </a:pPr>
            <a:r>
              <a:rPr sz="5100" b="1">
                <a:solidFill>
                  <a:srgbClr val="9A315F"/>
                </a:solidFill>
                <a:latin typeface="Arial"/>
                <a:ea typeface="Arial"/>
                <a:cs typeface="Arial"/>
              </a:rPr>
              <a:t>20,1%</a:t>
            </a:r>
          </a:p>
        </p:txBody>
      </p:sp>
      <p:sp>
        <p:nvSpPr>
          <p:cNvPr id="6" name="">
            <a:extLst xmlns:a="http://schemas.openxmlformats.org/drawingml/2006/main">
              <a:ext uri="{FF2B5EF4-FFF2-40B4-BE49-F238E27FC236}">
                <a16:creationId xmlns:a16="http://schemas.microsoft.com/office/drawing/2014/main" id="{33AA4C2D-3C3D-4367-A53C-909A1C5BCB1C}"/>
              </a:ext>
            </a:extLst>
          </p:cNvPr>
          <p:cNvSpPr>
            <a:spLocks xmlns:a="http://schemas.openxmlformats.org/drawingml/2006/main" noGrp="1"/>
          </p:cNvSpPr>
          <p:nvPr/>
        </p:nvSpPr>
        <p:spPr>
          <a:xfrm xmlns:a="http://schemas.openxmlformats.org/drawingml/2006/main">
            <a:off x="685800" y="37338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2C40"/>
                </a:solidFill>
                <a:latin typeface="Arial"/>
                <a:ea typeface="Arial"/>
                <a:cs typeface="Arial"/>
              </a:defRPr>
            </a:defPPr>
            <a:lvl1pPr>
              <a:defRPr sz="2100" b="0">
                <a:solidFill>
                  <a:srgbClr val="152C40"/>
                </a:solidFill>
                <a:latin typeface="Arial"/>
                <a:ea typeface="Arial"/>
                <a:cs typeface="Arial"/>
              </a:defRPr>
            </a:lvl1pPr>
            <a:lvl2pPr>
              <a:defRPr sz="2100" b="0">
                <a:solidFill>
                  <a:srgbClr val="152C40"/>
                </a:solidFill>
                <a:latin typeface="Arial"/>
                <a:ea typeface="Arial"/>
                <a:cs typeface="Arial"/>
              </a:defRPr>
            </a:lvl2pPr>
            <a:lvl3pPr>
              <a:defRPr sz="2100" b="0">
                <a:solidFill>
                  <a:srgbClr val="152C40"/>
                </a:solidFill>
                <a:latin typeface="Arial"/>
                <a:ea typeface="Arial"/>
                <a:cs typeface="Arial"/>
              </a:defRPr>
            </a:lvl3pPr>
            <a:lvl4pPr>
              <a:defRPr sz="2100" b="0">
                <a:solidFill>
                  <a:srgbClr val="152C40"/>
                </a:solidFill>
                <a:latin typeface="Arial"/>
                <a:ea typeface="Arial"/>
                <a:cs typeface="Arial"/>
              </a:defRPr>
            </a:lvl4pPr>
            <a:lvl5pPr>
              <a:defRPr sz="2100" b="0">
                <a:solidFill>
                  <a:srgbClr val="152C40"/>
                </a:solidFill>
                <a:latin typeface="Arial"/>
                <a:ea typeface="Arial"/>
                <a:cs typeface="Arial"/>
              </a:defRPr>
            </a:lvl5pPr>
            <a:lvl6pPr>
              <a:defRPr sz="2100" b="0">
                <a:solidFill>
                  <a:srgbClr val="152C40"/>
                </a:solidFill>
                <a:latin typeface="Arial"/>
                <a:ea typeface="Arial"/>
                <a:cs typeface="Arial"/>
              </a:defRPr>
            </a:lvl6pPr>
            <a:lvl7pPr>
              <a:defRPr sz="2100" b="0">
                <a:solidFill>
                  <a:srgbClr val="152C40"/>
                </a:solidFill>
                <a:latin typeface="Arial"/>
                <a:ea typeface="Arial"/>
                <a:cs typeface="Arial"/>
              </a:defRPr>
            </a:lvl7pPr>
            <a:lvl8pPr>
              <a:defRPr sz="2100" b="0">
                <a:solidFill>
                  <a:srgbClr val="152C40"/>
                </a:solidFill>
                <a:latin typeface="Arial"/>
                <a:ea typeface="Arial"/>
                <a:cs typeface="Arial"/>
              </a:defRPr>
            </a:lvl8pPr>
            <a:lvl9pPr>
              <a:defRPr sz="2100" b="0">
                <a:solidFill>
                  <a:srgbClr val="152C40"/>
                </a:solidFill>
                <a:latin typeface="Arial"/>
                <a:ea typeface="Arial"/>
                <a:cs typeface="Arial"/>
              </a:defRPr>
            </a:lvl9pPr>
          </a:lstStyle>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de recompradores identificados</a:t>
            </a:r>
          </a:p>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al contactar al 20% de clientes</a:t>
            </a:r>
          </a:p>
        </p:txBody>
      </p:sp>
      <p:sp>
        <p:nvSpPr>
          <p:cNvPr id="7" name="">
            <a:extLst xmlns:a="http://schemas.openxmlformats.org/drawingml/2006/main">
              <a:ext uri="{FF2B5EF4-FFF2-40B4-BE49-F238E27FC236}">
                <a16:creationId xmlns:a16="http://schemas.microsoft.com/office/drawing/2014/main" id="{4758F67A-DC05-4FAE-92F0-93FDB495ECA7}"/>
              </a:ext>
            </a:extLst>
          </p:cNvPr>
          <p:cNvSpPr>
            <a:spLocks xmlns:a="http://schemas.openxmlformats.org/drawingml/2006/main" noGrp="1"/>
          </p:cNvSpPr>
          <p:nvPr/>
        </p:nvSpPr>
        <p:spPr>
          <a:xfrm xmlns:a="http://schemas.openxmlformats.org/drawingml/2006/main">
            <a:off x="685800" y="487680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5"/>
                </a:solidFill>
                <a:latin typeface="Arial"/>
                <a:ea typeface="Arial"/>
                <a:cs typeface="Arial"/>
              </a:defRPr>
            </a:defPPr>
            <a:lvl1pPr>
              <a:defRPr sz="1875" b="0">
                <a:solidFill>
                  <a:srgbClr val="526775"/>
                </a:solidFill>
                <a:latin typeface="Arial"/>
                <a:ea typeface="Arial"/>
                <a:cs typeface="Arial"/>
              </a:defRPr>
            </a:lvl1pPr>
            <a:lvl2pPr>
              <a:defRPr sz="1875" b="0">
                <a:solidFill>
                  <a:srgbClr val="526775"/>
                </a:solidFill>
                <a:latin typeface="Arial"/>
                <a:ea typeface="Arial"/>
                <a:cs typeface="Arial"/>
              </a:defRPr>
            </a:lvl2pPr>
            <a:lvl3pPr>
              <a:defRPr sz="1875" b="0">
                <a:solidFill>
                  <a:srgbClr val="526775"/>
                </a:solidFill>
                <a:latin typeface="Arial"/>
                <a:ea typeface="Arial"/>
                <a:cs typeface="Arial"/>
              </a:defRPr>
            </a:lvl3pPr>
            <a:lvl4pPr>
              <a:defRPr sz="1875" b="0">
                <a:solidFill>
                  <a:srgbClr val="526775"/>
                </a:solidFill>
                <a:latin typeface="Arial"/>
                <a:ea typeface="Arial"/>
                <a:cs typeface="Arial"/>
              </a:defRPr>
            </a:lvl4pPr>
            <a:lvl5pPr>
              <a:defRPr sz="1875" b="0">
                <a:solidFill>
                  <a:srgbClr val="526775"/>
                </a:solidFill>
                <a:latin typeface="Arial"/>
                <a:ea typeface="Arial"/>
                <a:cs typeface="Arial"/>
              </a:defRPr>
            </a:lvl5pPr>
            <a:lvl6pPr>
              <a:defRPr sz="1875" b="0">
                <a:solidFill>
                  <a:srgbClr val="526775"/>
                </a:solidFill>
                <a:latin typeface="Arial"/>
                <a:ea typeface="Arial"/>
                <a:cs typeface="Arial"/>
              </a:defRPr>
            </a:lvl6pPr>
            <a:lvl7pPr>
              <a:defRPr sz="1875" b="0">
                <a:solidFill>
                  <a:srgbClr val="526775"/>
                </a:solidFill>
                <a:latin typeface="Arial"/>
                <a:ea typeface="Arial"/>
                <a:cs typeface="Arial"/>
              </a:defRPr>
            </a:lvl7pPr>
            <a:lvl8pPr>
              <a:defRPr sz="1875" b="0">
                <a:solidFill>
                  <a:srgbClr val="526775"/>
                </a:solidFill>
                <a:latin typeface="Arial"/>
                <a:ea typeface="Arial"/>
                <a:cs typeface="Arial"/>
              </a:defRPr>
            </a:lvl8pPr>
            <a:lvl9pPr>
              <a:defRPr sz="1875" b="0">
                <a:solidFill>
                  <a:srgbClr val="526775"/>
                </a:solidFill>
                <a:latin typeface="Arial"/>
                <a:ea typeface="Arial"/>
                <a:cs typeface="Arial"/>
              </a:defRPr>
            </a:lvl9pPr>
          </a:lstStyle>
          <a:p xmlns:a="http://schemas.openxmlformats.org/drawingml/2006/main">
            <a:pPr>
              <a:defRPr sz="1875" b="0">
                <a:solidFill>
                  <a:srgbClr val="526775"/>
                </a:solidFill>
                <a:latin typeface="Arial"/>
                <a:ea typeface="Arial"/>
                <a:cs typeface="Arial"/>
              </a:defRPr>
            </a:pPr>
            <a:r>
              <a:rPr sz="1875" b="0">
                <a:solidFill>
                  <a:srgbClr val="526775"/>
                </a:solidFill>
                <a:latin typeface="Arial"/>
                <a:ea typeface="Arial"/>
                <a:cs typeface="Arial"/>
              </a:rPr>
              <a:t>Selección aleatoria: cerca de 20%</a:t>
            </a:r>
          </a:p>
        </p:txBody>
      </p:sp>
      <p:graphicFrame>
        <p:nvGraphicFramePr>
          <p:cNvPr id="8" name="">
            <a:extLst xmlns:a="http://schemas.openxmlformats.org/drawingml/2006/main">
              <a:ext uri="{FF2B5EF4-FFF2-40B4-BE49-F238E27FC236}">
                <a16:creationId xmlns:a16="http://schemas.microsoft.com/office/drawing/2014/main" id="{132380DF-98B3-47C2-B9AC-55C2AEE8A37D}"/>
              </a:ext>
            </a:extLst>
          </p:cNvPr>
          <p:cNvGraphicFramePr/>
          <p:nvPr/>
        </p:nvGraphicFramePr>
        <p:xfrm>
          <a:off xmlns:a="http://schemas.openxmlformats.org/drawingml/2006/main" x="5734050" y="2714625"/>
          <a:ext xmlns:a="http://schemas.openxmlformats.org/drawingml/2006/main" cx="5772150" cy="2381250"/>
        </p:xfrm>
        <a:graphic xmlns:a="http://schemas.openxmlformats.org/drawingml/2006/main">
          <a:graphicData uri="http://schemas.openxmlformats.org/drawingml/2006/table">
            <a:tbl>
              <a:tblPr/>
              <a:tblGrid>
                <a:gridCol w="3524250"/>
                <a:gridCol w="2247900"/>
              </a:tblGrid>
              <a:tr h="595313">
                <a:tc>
                  <a:txBody>
                    <a:bodyPr/>
                    <a:lstStyle/>
                    <a:p>
                      <a:r>
                        <a:rPr sz="1800" b="1">
                          <a:solidFill>
                            <a:srgbClr val="FFFFFF"/>
                          </a:solidFill>
                          <a:latin typeface="Arial"/>
                          <a:ea typeface="Arial"/>
                          <a:cs typeface="Arial"/>
                        </a:rPr>
                        <a:t>Alternativa</a:t>
                      </a:r>
                    </a:p>
                  </a:txBody>
                  <a:tcPr marL="91440" marR="91440" marT="45720" marB="45720">
                    <a:solidFill>
                      <a:srgbClr val="152C40"/>
                    </a:solidFill>
                  </a:tcPr>
                </a:tc>
                <a:tc>
                  <a:txBody>
                    <a:bodyPr/>
                    <a:lstStyle/>
                    <a:p>
                      <a:r>
                        <a:rPr sz="1800" b="1">
                          <a:solidFill>
                            <a:srgbClr val="FFFFFF"/>
                          </a:solidFill>
                          <a:latin typeface="Arial"/>
                          <a:ea typeface="Arial"/>
                          <a:cs typeface="Arial"/>
                        </a:rPr>
                        <a:t>Capacidad de ordenar*</a:t>
                      </a:r>
                    </a:p>
                  </a:txBody>
                  <a:tcPr marL="91440" marR="91440" marT="45720" marB="45720">
                    <a:solidFill>
                      <a:srgbClr val="152C40"/>
                    </a:solidFill>
                  </a:tcPr>
                </a:tc>
              </a:tr>
              <a:tr h="595313">
                <a:tc>
                  <a:txBody>
                    <a:bodyPr/>
                    <a:lstStyle/>
                    <a:p>
                      <a:r>
                        <a:rPr sz="1800" b="0">
                          <a:solidFill>
                            <a:srgbClr val="152C40"/>
                          </a:solidFill>
                          <a:latin typeface="Arial"/>
                          <a:ea typeface="Arial"/>
                          <a:cs typeface="Arial"/>
                        </a:rPr>
                        <a:t>Referencia sencilla</a:t>
                      </a:r>
                    </a:p>
                  </a:txBody>
                  <a:tcPr marL="91440" marR="91440" marT="45720" marB="45720">
                    <a:solidFill>
                      <a:srgbClr val="F0ECEF"/>
                    </a:solidFill>
                  </a:tcPr>
                </a:tc>
                <a:tc>
                  <a:txBody>
                    <a:bodyPr/>
                    <a:lstStyle/>
                    <a:p>
                      <a:r>
                        <a:rPr sz="1800" b="0">
                          <a:solidFill>
                            <a:srgbClr val="152C40"/>
                          </a:solidFill>
                          <a:latin typeface="Arial"/>
                          <a:ea typeface="Arial"/>
                          <a:cs typeface="Arial"/>
                        </a:rPr>
                        <a:t>0,159</a:t>
                      </a:r>
                    </a:p>
                  </a:txBody>
                  <a:tcPr marL="91440" marR="91440" marT="45720" marB="45720">
                    <a:solidFill>
                      <a:srgbClr val="F0ECEF"/>
                    </a:solidFill>
                  </a:tcPr>
                </a:tc>
              </a:tr>
              <a:tr h="595313">
                <a:tc>
                  <a:txBody>
                    <a:bodyPr/>
                    <a:lstStyle/>
                    <a:p>
                      <a:r>
                        <a:rPr sz="1800" b="0">
                          <a:solidFill>
                            <a:srgbClr val="152C40"/>
                          </a:solidFill>
                          <a:latin typeface="Arial"/>
                          <a:ea typeface="Arial"/>
                          <a:cs typeface="Arial"/>
                        </a:rPr>
                        <a:t>Regresión logística</a:t>
                      </a:r>
                    </a:p>
                  </a:txBody>
                  <a:tcPr marL="91440" marR="91440" marT="45720" marB="45720">
                    <a:solidFill>
                      <a:srgbClr val="FFFFFF"/>
                    </a:solidFill>
                  </a:tcPr>
                </a:tc>
                <a:tc>
                  <a:txBody>
                    <a:bodyPr/>
                    <a:lstStyle/>
                    <a:p>
                      <a:r>
                        <a:rPr sz="1800" b="0">
                          <a:solidFill>
                            <a:srgbClr val="152C40"/>
                          </a:solidFill>
                          <a:latin typeface="Arial"/>
                          <a:ea typeface="Arial"/>
                          <a:cs typeface="Arial"/>
                        </a:rPr>
                        <a:t>0,163</a:t>
                      </a:r>
                    </a:p>
                  </a:txBody>
                  <a:tcPr marL="91440" marR="91440" marT="45720" marB="45720">
                    <a:solidFill>
                      <a:srgbClr val="FFFFFF"/>
                    </a:solidFill>
                  </a:tcPr>
                </a:tc>
              </a:tr>
              <a:tr h="595313">
                <a:tc>
                  <a:txBody>
                    <a:bodyPr/>
                    <a:lstStyle/>
                    <a:p>
                      <a:r>
                        <a:rPr sz="1800" b="0">
                          <a:solidFill>
                            <a:srgbClr val="152C40"/>
                          </a:solidFill>
                          <a:latin typeface="Arial"/>
                          <a:ea typeface="Arial"/>
                          <a:cs typeface="Arial"/>
                        </a:rPr>
                        <a:t>Modelo de árboles elegido</a:t>
                      </a:r>
                    </a:p>
                  </a:txBody>
                  <a:tcPr marL="91440" marR="91440" marT="45720" marB="45720">
                    <a:solidFill>
                      <a:srgbClr val="F0ECEF"/>
                    </a:solidFill>
                  </a:tcPr>
                </a:tc>
                <a:tc>
                  <a:txBody>
                    <a:bodyPr/>
                    <a:lstStyle/>
                    <a:p>
                      <a:r>
                        <a:rPr sz="1800" b="0">
                          <a:solidFill>
                            <a:srgbClr val="152C40"/>
                          </a:solidFill>
                          <a:latin typeface="Arial"/>
                          <a:ea typeface="Arial"/>
                          <a:cs typeface="Arial"/>
                        </a:rPr>
                        <a:t>0,156</a:t>
                      </a:r>
                    </a:p>
                  </a:txBody>
                  <a:tcPr marL="91440" marR="91440" marT="45720" marB="45720">
                    <a:solidFill>
                      <a:srgbClr val="F0ECEF"/>
                    </a:solidFill>
                  </a:tcPr>
                </a:tc>
              </a:tr>
            </a:tbl>
          </a:graphicData>
        </a:graphic>
      </p:graphicFrame>
      <p:sp>
        <p:nvSpPr>
          <p:cNvPr id="9" name="">
            <a:extLst xmlns:a="http://schemas.openxmlformats.org/drawingml/2006/main">
              <a:ext uri="{FF2B5EF4-FFF2-40B4-BE49-F238E27FC236}">
                <a16:creationId xmlns:a16="http://schemas.microsoft.com/office/drawing/2014/main" id="{1ECE5ED1-B3F1-4117-9062-7CB63606D67F}"/>
              </a:ext>
            </a:extLst>
          </p:cNvPr>
          <p:cNvSpPr>
            <a:spLocks xmlns:a="http://schemas.openxmlformats.org/drawingml/2006/main" noGrp="1"/>
          </p:cNvSpPr>
          <p:nvPr/>
        </p:nvSpPr>
        <p:spPr>
          <a:xfrm xmlns:a="http://schemas.openxmlformats.org/drawingml/2006/main">
            <a:off x="5734050" y="5238750"/>
            <a:ext cx="5772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775"/>
                </a:solidFill>
                <a:latin typeface="Arial"/>
                <a:ea typeface="Arial"/>
                <a:cs typeface="Arial"/>
              </a:defRPr>
            </a:defPPr>
            <a:lvl1pPr>
              <a:defRPr sz="1425" b="0">
                <a:solidFill>
                  <a:srgbClr val="526775"/>
                </a:solidFill>
                <a:latin typeface="Arial"/>
                <a:ea typeface="Arial"/>
                <a:cs typeface="Arial"/>
              </a:defRPr>
            </a:lvl1pPr>
            <a:lvl2pPr>
              <a:defRPr sz="1425" b="0">
                <a:solidFill>
                  <a:srgbClr val="526775"/>
                </a:solidFill>
                <a:latin typeface="Arial"/>
                <a:ea typeface="Arial"/>
                <a:cs typeface="Arial"/>
              </a:defRPr>
            </a:lvl2pPr>
            <a:lvl3pPr>
              <a:defRPr sz="1425" b="0">
                <a:solidFill>
                  <a:srgbClr val="526775"/>
                </a:solidFill>
                <a:latin typeface="Arial"/>
                <a:ea typeface="Arial"/>
                <a:cs typeface="Arial"/>
              </a:defRPr>
            </a:lvl3pPr>
            <a:lvl4pPr>
              <a:defRPr sz="1425" b="0">
                <a:solidFill>
                  <a:srgbClr val="526775"/>
                </a:solidFill>
                <a:latin typeface="Arial"/>
                <a:ea typeface="Arial"/>
                <a:cs typeface="Arial"/>
              </a:defRPr>
            </a:lvl4pPr>
            <a:lvl5pPr>
              <a:defRPr sz="1425" b="0">
                <a:solidFill>
                  <a:srgbClr val="526775"/>
                </a:solidFill>
                <a:latin typeface="Arial"/>
                <a:ea typeface="Arial"/>
                <a:cs typeface="Arial"/>
              </a:defRPr>
            </a:lvl5pPr>
            <a:lvl6pPr>
              <a:defRPr sz="1425" b="0">
                <a:solidFill>
                  <a:srgbClr val="526775"/>
                </a:solidFill>
                <a:latin typeface="Arial"/>
                <a:ea typeface="Arial"/>
                <a:cs typeface="Arial"/>
              </a:defRPr>
            </a:lvl6pPr>
            <a:lvl7pPr>
              <a:defRPr sz="1425" b="0">
                <a:solidFill>
                  <a:srgbClr val="526775"/>
                </a:solidFill>
                <a:latin typeface="Arial"/>
                <a:ea typeface="Arial"/>
                <a:cs typeface="Arial"/>
              </a:defRPr>
            </a:lvl7pPr>
            <a:lvl8pPr>
              <a:defRPr sz="1425" b="0">
                <a:solidFill>
                  <a:srgbClr val="526775"/>
                </a:solidFill>
                <a:latin typeface="Arial"/>
                <a:ea typeface="Arial"/>
                <a:cs typeface="Arial"/>
              </a:defRPr>
            </a:lvl8pPr>
            <a:lvl9pPr>
              <a:defRPr sz="1425" b="0">
                <a:solidFill>
                  <a:srgbClr val="526775"/>
                </a:solidFill>
                <a:latin typeface="Arial"/>
                <a:ea typeface="Arial"/>
                <a:cs typeface="Arial"/>
              </a:defRPr>
            </a:lvl9pPr>
          </a:lstStyle>
          <a:p xmlns:a="http://schemas.openxmlformats.org/drawingml/2006/main">
            <a:pPr>
              <a:defRPr sz="1425" b="0">
                <a:solidFill>
                  <a:srgbClr val="526775"/>
                </a:solidFill>
                <a:latin typeface="Arial"/>
                <a:ea typeface="Arial"/>
                <a:cs typeface="Arial"/>
              </a:defRPr>
            </a:pPr>
            <a:r>
              <a:rPr sz="1425" b="0">
                <a:solidFill>
                  <a:srgbClr val="526775"/>
                </a:solidFill>
                <a:latin typeface="Arial"/>
                <a:ea typeface="Arial"/>
                <a:cs typeface="Arial"/>
              </a:rPr>
              <a:t>* AP en la prueba final. Una cifra mayor es mejor.</a:t>
            </a:r>
          </a:p>
          <a:p xmlns:a="http://schemas.openxmlformats.org/drawingml/2006/main">
            <a:pPr>
              <a:defRPr sz="1425" b="0">
                <a:solidFill>
                  <a:srgbClr val="526775"/>
                </a:solidFill>
                <a:latin typeface="Arial"/>
                <a:ea typeface="Arial"/>
                <a:cs typeface="Arial"/>
              </a:defRPr>
            </a:pPr>
            <a:r>
              <a:rPr sz="1425" b="0">
                <a:solidFill>
                  <a:srgbClr val="526775"/>
                </a:solidFill>
                <a:latin typeface="Arial"/>
                <a:ea typeface="Arial"/>
                <a:cs typeface="Arial"/>
              </a:rPr>
              <a:t>La elección del modelo se realizó antes, en validación.</a:t>
            </a:r>
          </a:p>
        </p:txBody>
      </p:sp>
      <p:sp>
        <p:nvSpPr>
          <p:cNvPr id="10" name="">
            <a:extLst xmlns:a="http://schemas.openxmlformats.org/drawingml/2006/main">
              <a:ext uri="{FF2B5EF4-FFF2-40B4-BE49-F238E27FC236}">
                <a16:creationId xmlns:a16="http://schemas.microsoft.com/office/drawing/2014/main" id="{D36055AE-6661-4F64-AB4A-F3565951C441}"/>
              </a:ext>
            </a:extLst>
          </p:cNvPr>
          <p:cNvSpPr>
            <a:spLocks xmlns:a="http://schemas.openxmlformats.org/drawingml/2006/main" noGrp="1"/>
          </p:cNvSpPr>
          <p:nvPr/>
        </p:nvSpPr>
        <p:spPr>
          <a:xfrm xmlns:a="http://schemas.openxmlformats.org/drawingml/2006/main">
            <a:off x="685800" y="59436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9A315F"/>
                </a:solidFill>
                <a:latin typeface="Arial"/>
                <a:ea typeface="Arial"/>
                <a:cs typeface="Arial"/>
              </a:defRPr>
            </a:defPPr>
            <a:lvl1pPr>
              <a:defRPr sz="2175" b="1">
                <a:solidFill>
                  <a:srgbClr val="9A315F"/>
                </a:solidFill>
                <a:latin typeface="Arial"/>
                <a:ea typeface="Arial"/>
                <a:cs typeface="Arial"/>
              </a:defRPr>
            </a:lvl1pPr>
            <a:lvl2pPr>
              <a:defRPr sz="2175" b="1">
                <a:solidFill>
                  <a:srgbClr val="9A315F"/>
                </a:solidFill>
                <a:latin typeface="Arial"/>
                <a:ea typeface="Arial"/>
                <a:cs typeface="Arial"/>
              </a:defRPr>
            </a:lvl2pPr>
            <a:lvl3pPr>
              <a:defRPr sz="2175" b="1">
                <a:solidFill>
                  <a:srgbClr val="9A315F"/>
                </a:solidFill>
                <a:latin typeface="Arial"/>
                <a:ea typeface="Arial"/>
                <a:cs typeface="Arial"/>
              </a:defRPr>
            </a:lvl3pPr>
            <a:lvl4pPr>
              <a:defRPr sz="2175" b="1">
                <a:solidFill>
                  <a:srgbClr val="9A315F"/>
                </a:solidFill>
                <a:latin typeface="Arial"/>
                <a:ea typeface="Arial"/>
                <a:cs typeface="Arial"/>
              </a:defRPr>
            </a:lvl4pPr>
            <a:lvl5pPr>
              <a:defRPr sz="2175" b="1">
                <a:solidFill>
                  <a:srgbClr val="9A315F"/>
                </a:solidFill>
                <a:latin typeface="Arial"/>
                <a:ea typeface="Arial"/>
                <a:cs typeface="Arial"/>
              </a:defRPr>
            </a:lvl5pPr>
            <a:lvl6pPr>
              <a:defRPr sz="2175" b="1">
                <a:solidFill>
                  <a:srgbClr val="9A315F"/>
                </a:solidFill>
                <a:latin typeface="Arial"/>
                <a:ea typeface="Arial"/>
                <a:cs typeface="Arial"/>
              </a:defRPr>
            </a:lvl6pPr>
            <a:lvl7pPr>
              <a:defRPr sz="2175" b="1">
                <a:solidFill>
                  <a:srgbClr val="9A315F"/>
                </a:solidFill>
                <a:latin typeface="Arial"/>
                <a:ea typeface="Arial"/>
                <a:cs typeface="Arial"/>
              </a:defRPr>
            </a:lvl7pPr>
            <a:lvl8pPr>
              <a:defRPr sz="2175" b="1">
                <a:solidFill>
                  <a:srgbClr val="9A315F"/>
                </a:solidFill>
                <a:latin typeface="Arial"/>
                <a:ea typeface="Arial"/>
                <a:cs typeface="Arial"/>
              </a:defRPr>
            </a:lvl8pPr>
            <a:lvl9pPr>
              <a:defRPr sz="2175" b="1">
                <a:solidFill>
                  <a:srgbClr val="9A315F"/>
                </a:solidFill>
                <a:latin typeface="Arial"/>
                <a:ea typeface="Arial"/>
                <a:cs typeface="Arial"/>
              </a:defRPr>
            </a:lvl9pPr>
          </a:lstStyle>
          <a:p xmlns:a="http://schemas.openxmlformats.org/drawingml/2006/main">
            <a:pPr>
              <a:defRPr sz="2175" b="1">
                <a:solidFill>
                  <a:srgbClr val="9A315F"/>
                </a:solidFill>
                <a:latin typeface="Arial"/>
                <a:ea typeface="Arial"/>
                <a:cs typeface="Arial"/>
              </a:defRPr>
            </a:pPr>
            <a:r>
              <a:rPr sz="2175" b="1">
                <a:solidFill>
                  <a:srgbClr val="9A315F"/>
                </a:solidFill>
                <a:latin typeface="Arial"/>
                <a:ea typeface="Arial"/>
                <a:cs typeface="Arial"/>
              </a:rPr>
              <a:t>Decisión propuesta: mejorar la evidencia antes de invertir en la campaña</a:t>
            </a:r>
          </a:p>
        </p:txBody>
      </p:sp>
    </p:spTree>
    <p:extLst>
      <p:ext uri="{BB962C8B-B14F-4D97-AF65-F5344CB8AC3E}">
        <p14:creationId xmlns:p14="http://schemas.microsoft.com/office/powerpoint/2010/main" val="133910489"/>
      </p:ext>
    </p:extLst>
  </p:cSld>
</p:sld>
</file>

<file path=ppt/slides/slide7.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C46287-5D45-4093-8BF1-66AA4A3F1B05}"/>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Una campaña debe demostrar ventas adicionales</a:t>
            </a:r>
          </a:p>
        </p:txBody>
      </p:sp>
      <p:sp>
        <p:nvSpPr>
          <p:cNvPr id="2" name="">
            <a:extLst xmlns:a="http://schemas.openxmlformats.org/drawingml/2006/main">
              <a:ext uri="{FF2B5EF4-FFF2-40B4-BE49-F238E27FC236}">
                <a16:creationId xmlns:a16="http://schemas.microsoft.com/office/drawing/2014/main" id="{C421140C-307E-4DF4-AB35-1B994887F283}"/>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La probabilidad de volver a comprar no demuestra que un descuento cambie la decisión del cliente.</a:t>
            </a:r>
          </a:p>
        </p:txBody>
      </p:sp>
      <p:sp>
        <p:nvSpPr>
          <p:cNvPr id="3" name="">
            <a:extLst xmlns:a="http://schemas.openxmlformats.org/drawingml/2006/main">
              <a:ext uri="{FF2B5EF4-FFF2-40B4-BE49-F238E27FC236}">
                <a16:creationId xmlns:a16="http://schemas.microsoft.com/office/drawing/2014/main" id="{BB1ABC39-9CCF-4E52-8D5B-440F089C8951}"/>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801277D5-EBEE-43FF-9DAB-414996C89000}"/>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BE2A97A-9FB7-430C-81FC-4A5BA1F31646}"/>
              </a:ext>
            </a:extLst>
          </p:cNvPr>
          <p:cNvSpPr>
            <a:spLocks xmlns:a="http://schemas.openxmlformats.org/drawingml/2006/main" noGrp="1"/>
          </p:cNvSpPr>
          <p:nvPr/>
        </p:nvSpPr>
        <p:spPr>
          <a:xfrm xmlns:a="http://schemas.openxmlformats.org/drawingml/2006/main">
            <a:off x="685800" y="27813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9A315F"/>
                </a:solidFill>
                <a:latin typeface="Arial"/>
                <a:ea typeface="Arial"/>
                <a:cs typeface="Arial"/>
              </a:defRPr>
            </a:defPPr>
            <a:lvl1pPr>
              <a:defRPr sz="2475" b="1">
                <a:solidFill>
                  <a:srgbClr val="9A315F"/>
                </a:solidFill>
                <a:latin typeface="Arial"/>
                <a:ea typeface="Arial"/>
                <a:cs typeface="Arial"/>
              </a:defRPr>
            </a:lvl1pPr>
            <a:lvl2pPr>
              <a:defRPr sz="2475" b="1">
                <a:solidFill>
                  <a:srgbClr val="9A315F"/>
                </a:solidFill>
                <a:latin typeface="Arial"/>
                <a:ea typeface="Arial"/>
                <a:cs typeface="Arial"/>
              </a:defRPr>
            </a:lvl2pPr>
            <a:lvl3pPr>
              <a:defRPr sz="2475" b="1">
                <a:solidFill>
                  <a:srgbClr val="9A315F"/>
                </a:solidFill>
                <a:latin typeface="Arial"/>
                <a:ea typeface="Arial"/>
                <a:cs typeface="Arial"/>
              </a:defRPr>
            </a:lvl3pPr>
            <a:lvl4pPr>
              <a:defRPr sz="2475" b="1">
                <a:solidFill>
                  <a:srgbClr val="9A315F"/>
                </a:solidFill>
                <a:latin typeface="Arial"/>
                <a:ea typeface="Arial"/>
                <a:cs typeface="Arial"/>
              </a:defRPr>
            </a:lvl4pPr>
            <a:lvl5pPr>
              <a:defRPr sz="2475" b="1">
                <a:solidFill>
                  <a:srgbClr val="9A315F"/>
                </a:solidFill>
                <a:latin typeface="Arial"/>
                <a:ea typeface="Arial"/>
                <a:cs typeface="Arial"/>
              </a:defRPr>
            </a:lvl5pPr>
            <a:lvl6pPr>
              <a:defRPr sz="2475" b="1">
                <a:solidFill>
                  <a:srgbClr val="9A315F"/>
                </a:solidFill>
                <a:latin typeface="Arial"/>
                <a:ea typeface="Arial"/>
                <a:cs typeface="Arial"/>
              </a:defRPr>
            </a:lvl6pPr>
            <a:lvl7pPr>
              <a:defRPr sz="2475" b="1">
                <a:solidFill>
                  <a:srgbClr val="9A315F"/>
                </a:solidFill>
                <a:latin typeface="Arial"/>
                <a:ea typeface="Arial"/>
                <a:cs typeface="Arial"/>
              </a:defRPr>
            </a:lvl7pPr>
            <a:lvl8pPr>
              <a:defRPr sz="2475" b="1">
                <a:solidFill>
                  <a:srgbClr val="9A315F"/>
                </a:solidFill>
                <a:latin typeface="Arial"/>
                <a:ea typeface="Arial"/>
                <a:cs typeface="Arial"/>
              </a:defRPr>
            </a:lvl8pPr>
            <a:lvl9pPr>
              <a:defRPr sz="2475" b="1">
                <a:solidFill>
                  <a:srgbClr val="9A315F"/>
                </a:solidFill>
                <a:latin typeface="Arial"/>
                <a:ea typeface="Arial"/>
                <a:cs typeface="Arial"/>
              </a:defRPr>
            </a:lvl9pPr>
          </a:lstStyle>
          <a:p xmlns:a="http://schemas.openxmlformats.org/drawingml/2006/main">
            <a:pPr>
              <a:defRPr sz="2475" b="1">
                <a:solidFill>
                  <a:srgbClr val="9A315F"/>
                </a:solidFill>
                <a:latin typeface="Arial"/>
                <a:ea typeface="Arial"/>
                <a:cs typeface="Arial"/>
              </a:defRPr>
            </a:pPr>
            <a:r>
              <a:rPr sz="2475" b="1">
                <a:solidFill>
                  <a:srgbClr val="9A315F"/>
                </a:solidFill>
                <a:latin typeface="Arial"/>
                <a:ea typeface="Arial"/>
                <a:cs typeface="Arial"/>
              </a:rPr>
              <a:t>Qué probar</a:t>
            </a:r>
          </a:p>
        </p:txBody>
      </p:sp>
      <p:sp>
        <p:nvSpPr>
          <p:cNvPr id="6" name="">
            <a:extLst xmlns:a="http://schemas.openxmlformats.org/drawingml/2006/main">
              <a:ext uri="{FF2B5EF4-FFF2-40B4-BE49-F238E27FC236}">
                <a16:creationId xmlns:a16="http://schemas.microsoft.com/office/drawing/2014/main" id="{F3250C43-B924-42B4-B089-871057B8B0A5}"/>
              </a:ext>
            </a:extLst>
          </p:cNvPr>
          <p:cNvSpPr>
            <a:spLocks xmlns:a="http://schemas.openxmlformats.org/drawingml/2006/main" noGrp="1"/>
          </p:cNvSpPr>
          <p:nvPr/>
        </p:nvSpPr>
        <p:spPr>
          <a:xfrm xmlns:a="http://schemas.openxmlformats.org/drawingml/2006/main">
            <a:off x="685800" y="3486150"/>
            <a:ext cx="4524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2C40"/>
                </a:solidFill>
                <a:latin typeface="Arial"/>
                <a:ea typeface="Arial"/>
                <a:cs typeface="Arial"/>
              </a:defRPr>
            </a:defPPr>
            <a:lvl1pPr>
              <a:defRPr sz="2175" b="0">
                <a:solidFill>
                  <a:srgbClr val="152C40"/>
                </a:solidFill>
                <a:latin typeface="Arial"/>
                <a:ea typeface="Arial"/>
                <a:cs typeface="Arial"/>
              </a:defRPr>
            </a:lvl1pPr>
            <a:lvl2pPr>
              <a:defRPr sz="2175" b="0">
                <a:solidFill>
                  <a:srgbClr val="152C40"/>
                </a:solidFill>
                <a:latin typeface="Arial"/>
                <a:ea typeface="Arial"/>
                <a:cs typeface="Arial"/>
              </a:defRPr>
            </a:lvl2pPr>
            <a:lvl3pPr>
              <a:defRPr sz="2175" b="0">
                <a:solidFill>
                  <a:srgbClr val="152C40"/>
                </a:solidFill>
                <a:latin typeface="Arial"/>
                <a:ea typeface="Arial"/>
                <a:cs typeface="Arial"/>
              </a:defRPr>
            </a:lvl3pPr>
            <a:lvl4pPr>
              <a:defRPr sz="2175" b="0">
                <a:solidFill>
                  <a:srgbClr val="152C40"/>
                </a:solidFill>
                <a:latin typeface="Arial"/>
                <a:ea typeface="Arial"/>
                <a:cs typeface="Arial"/>
              </a:defRPr>
            </a:lvl4pPr>
            <a:lvl5pPr>
              <a:defRPr sz="2175" b="0">
                <a:solidFill>
                  <a:srgbClr val="152C40"/>
                </a:solidFill>
                <a:latin typeface="Arial"/>
                <a:ea typeface="Arial"/>
                <a:cs typeface="Arial"/>
              </a:defRPr>
            </a:lvl5pPr>
            <a:lvl6pPr>
              <a:defRPr sz="2175" b="0">
                <a:solidFill>
                  <a:srgbClr val="152C40"/>
                </a:solidFill>
                <a:latin typeface="Arial"/>
                <a:ea typeface="Arial"/>
                <a:cs typeface="Arial"/>
              </a:defRPr>
            </a:lvl6pPr>
            <a:lvl7pPr>
              <a:defRPr sz="2175" b="0">
                <a:solidFill>
                  <a:srgbClr val="152C40"/>
                </a:solidFill>
                <a:latin typeface="Arial"/>
                <a:ea typeface="Arial"/>
                <a:cs typeface="Arial"/>
              </a:defRPr>
            </a:lvl7pPr>
            <a:lvl8pPr>
              <a:defRPr sz="2175" b="0">
                <a:solidFill>
                  <a:srgbClr val="152C40"/>
                </a:solidFill>
                <a:latin typeface="Arial"/>
                <a:ea typeface="Arial"/>
                <a:cs typeface="Arial"/>
              </a:defRPr>
            </a:lvl8pPr>
            <a:lvl9pPr>
              <a:defRPr sz="2175" b="0">
                <a:solidFill>
                  <a:srgbClr val="152C40"/>
                </a:solidFill>
                <a:latin typeface="Arial"/>
                <a:ea typeface="Arial"/>
                <a:cs typeface="Arial"/>
              </a:defRPr>
            </a:lvl9pPr>
          </a:lstStyle>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Un contacto de recompra de bajo costo, con un grupo comparable sin intervención.</a:t>
            </a:r>
          </a:p>
        </p:txBody>
      </p:sp>
      <p:sp>
        <p:nvSpPr>
          <p:cNvPr id="7" name="">
            <a:extLst xmlns:a="http://schemas.openxmlformats.org/drawingml/2006/main">
              <a:ext uri="{FF2B5EF4-FFF2-40B4-BE49-F238E27FC236}">
                <a16:creationId xmlns:a16="http://schemas.microsoft.com/office/drawing/2014/main" id="{A0FB4BAC-DBB1-4DC8-9CD2-76074A68CA16}"/>
              </a:ext>
            </a:extLst>
          </p:cNvPr>
          <p:cNvSpPr>
            <a:spLocks xmlns:a="http://schemas.openxmlformats.org/drawingml/2006/main" noGrp="1"/>
          </p:cNvSpPr>
          <p:nvPr/>
        </p:nvSpPr>
        <p:spPr>
          <a:xfrm xmlns:a="http://schemas.openxmlformats.org/drawingml/2006/main">
            <a:off x="6496050" y="2781300"/>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32657A"/>
                </a:solidFill>
                <a:latin typeface="Arial"/>
                <a:ea typeface="Arial"/>
                <a:cs typeface="Arial"/>
              </a:defRPr>
            </a:defPPr>
            <a:lvl1pPr>
              <a:defRPr sz="2475" b="1">
                <a:solidFill>
                  <a:srgbClr val="32657A"/>
                </a:solidFill>
                <a:latin typeface="Arial"/>
                <a:ea typeface="Arial"/>
                <a:cs typeface="Arial"/>
              </a:defRPr>
            </a:lvl1pPr>
            <a:lvl2pPr>
              <a:defRPr sz="2475" b="1">
                <a:solidFill>
                  <a:srgbClr val="32657A"/>
                </a:solidFill>
                <a:latin typeface="Arial"/>
                <a:ea typeface="Arial"/>
                <a:cs typeface="Arial"/>
              </a:defRPr>
            </a:lvl2pPr>
            <a:lvl3pPr>
              <a:defRPr sz="2475" b="1">
                <a:solidFill>
                  <a:srgbClr val="32657A"/>
                </a:solidFill>
                <a:latin typeface="Arial"/>
                <a:ea typeface="Arial"/>
                <a:cs typeface="Arial"/>
              </a:defRPr>
            </a:lvl3pPr>
            <a:lvl4pPr>
              <a:defRPr sz="2475" b="1">
                <a:solidFill>
                  <a:srgbClr val="32657A"/>
                </a:solidFill>
                <a:latin typeface="Arial"/>
                <a:ea typeface="Arial"/>
                <a:cs typeface="Arial"/>
              </a:defRPr>
            </a:lvl4pPr>
            <a:lvl5pPr>
              <a:defRPr sz="2475" b="1">
                <a:solidFill>
                  <a:srgbClr val="32657A"/>
                </a:solidFill>
                <a:latin typeface="Arial"/>
                <a:ea typeface="Arial"/>
                <a:cs typeface="Arial"/>
              </a:defRPr>
            </a:lvl5pPr>
            <a:lvl6pPr>
              <a:defRPr sz="2475" b="1">
                <a:solidFill>
                  <a:srgbClr val="32657A"/>
                </a:solidFill>
                <a:latin typeface="Arial"/>
                <a:ea typeface="Arial"/>
                <a:cs typeface="Arial"/>
              </a:defRPr>
            </a:lvl6pPr>
            <a:lvl7pPr>
              <a:defRPr sz="2475" b="1">
                <a:solidFill>
                  <a:srgbClr val="32657A"/>
                </a:solidFill>
                <a:latin typeface="Arial"/>
                <a:ea typeface="Arial"/>
                <a:cs typeface="Arial"/>
              </a:defRPr>
            </a:lvl7pPr>
            <a:lvl8pPr>
              <a:defRPr sz="2475" b="1">
                <a:solidFill>
                  <a:srgbClr val="32657A"/>
                </a:solidFill>
                <a:latin typeface="Arial"/>
                <a:ea typeface="Arial"/>
                <a:cs typeface="Arial"/>
              </a:defRPr>
            </a:lvl8pPr>
            <a:lvl9pPr>
              <a:defRPr sz="2475" b="1">
                <a:solidFill>
                  <a:srgbClr val="32657A"/>
                </a:solidFill>
                <a:latin typeface="Arial"/>
                <a:ea typeface="Arial"/>
                <a:cs typeface="Arial"/>
              </a:defRPr>
            </a:lvl9pPr>
          </a:lstStyle>
          <a:p xmlns:a="http://schemas.openxmlformats.org/drawingml/2006/main">
            <a:pPr>
              <a:defRPr sz="2475" b="1">
                <a:solidFill>
                  <a:srgbClr val="32657A"/>
                </a:solidFill>
                <a:latin typeface="Arial"/>
                <a:ea typeface="Arial"/>
                <a:cs typeface="Arial"/>
              </a:defRPr>
            </a:pPr>
            <a:r>
              <a:rPr sz="2475" b="1">
                <a:solidFill>
                  <a:srgbClr val="32657A"/>
                </a:solidFill>
                <a:latin typeface="Arial"/>
                <a:ea typeface="Arial"/>
                <a:cs typeface="Arial"/>
              </a:rPr>
              <a:t>Qué medir</a:t>
            </a:r>
          </a:p>
        </p:txBody>
      </p:sp>
      <p:sp>
        <p:nvSpPr>
          <p:cNvPr id="8" name="">
            <a:extLst xmlns:a="http://schemas.openxmlformats.org/drawingml/2006/main">
              <a:ext uri="{FF2B5EF4-FFF2-40B4-BE49-F238E27FC236}">
                <a16:creationId xmlns:a16="http://schemas.microsoft.com/office/drawing/2014/main" id="{FE76AA3B-D14E-449E-8F6B-5990B4A298B5}"/>
              </a:ext>
            </a:extLst>
          </p:cNvPr>
          <p:cNvSpPr>
            <a:spLocks xmlns:a="http://schemas.openxmlformats.org/drawingml/2006/main" noGrp="1"/>
          </p:cNvSpPr>
          <p:nvPr/>
        </p:nvSpPr>
        <p:spPr>
          <a:xfrm xmlns:a="http://schemas.openxmlformats.org/drawingml/2006/main">
            <a:off x="6496050" y="3486150"/>
            <a:ext cx="4572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2C40"/>
                </a:solidFill>
                <a:latin typeface="Arial"/>
                <a:ea typeface="Arial"/>
                <a:cs typeface="Arial"/>
              </a:defRPr>
            </a:defPPr>
            <a:lvl1pPr>
              <a:defRPr sz="2175" b="0">
                <a:solidFill>
                  <a:srgbClr val="152C40"/>
                </a:solidFill>
                <a:latin typeface="Arial"/>
                <a:ea typeface="Arial"/>
                <a:cs typeface="Arial"/>
              </a:defRPr>
            </a:lvl1pPr>
            <a:lvl2pPr>
              <a:defRPr sz="2175" b="0">
                <a:solidFill>
                  <a:srgbClr val="152C40"/>
                </a:solidFill>
                <a:latin typeface="Arial"/>
                <a:ea typeface="Arial"/>
                <a:cs typeface="Arial"/>
              </a:defRPr>
            </a:lvl2pPr>
            <a:lvl3pPr>
              <a:defRPr sz="2175" b="0">
                <a:solidFill>
                  <a:srgbClr val="152C40"/>
                </a:solidFill>
                <a:latin typeface="Arial"/>
                <a:ea typeface="Arial"/>
                <a:cs typeface="Arial"/>
              </a:defRPr>
            </a:lvl3pPr>
            <a:lvl4pPr>
              <a:defRPr sz="2175" b="0">
                <a:solidFill>
                  <a:srgbClr val="152C40"/>
                </a:solidFill>
                <a:latin typeface="Arial"/>
                <a:ea typeface="Arial"/>
                <a:cs typeface="Arial"/>
              </a:defRPr>
            </a:lvl4pPr>
            <a:lvl5pPr>
              <a:defRPr sz="2175" b="0">
                <a:solidFill>
                  <a:srgbClr val="152C40"/>
                </a:solidFill>
                <a:latin typeface="Arial"/>
                <a:ea typeface="Arial"/>
                <a:cs typeface="Arial"/>
              </a:defRPr>
            </a:lvl5pPr>
            <a:lvl6pPr>
              <a:defRPr sz="2175" b="0">
                <a:solidFill>
                  <a:srgbClr val="152C40"/>
                </a:solidFill>
                <a:latin typeface="Arial"/>
                <a:ea typeface="Arial"/>
                <a:cs typeface="Arial"/>
              </a:defRPr>
            </a:lvl6pPr>
            <a:lvl7pPr>
              <a:defRPr sz="2175" b="0">
                <a:solidFill>
                  <a:srgbClr val="152C40"/>
                </a:solidFill>
                <a:latin typeface="Arial"/>
                <a:ea typeface="Arial"/>
                <a:cs typeface="Arial"/>
              </a:defRPr>
            </a:lvl7pPr>
            <a:lvl8pPr>
              <a:defRPr sz="2175" b="0">
                <a:solidFill>
                  <a:srgbClr val="152C40"/>
                </a:solidFill>
                <a:latin typeface="Arial"/>
                <a:ea typeface="Arial"/>
                <a:cs typeface="Arial"/>
              </a:defRPr>
            </a:lvl8pPr>
            <a:lvl9pPr>
              <a:defRPr sz="2175" b="0">
                <a:solidFill>
                  <a:srgbClr val="152C40"/>
                </a:solidFill>
                <a:latin typeface="Arial"/>
                <a:ea typeface="Arial"/>
                <a:cs typeface="Arial"/>
              </a:defRPr>
            </a:lvl9pPr>
          </a:lstStyle>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Compras adicionales y margen después de descuentos, devoluciones y costo de contacto.</a:t>
            </a:r>
          </a:p>
        </p:txBody>
      </p:sp>
      <p:sp>
        <p:nvSpPr>
          <p:cNvPr id="9" name="">
            <a:extLst xmlns:a="http://schemas.openxmlformats.org/drawingml/2006/main">
              <a:ext uri="{FF2B5EF4-FFF2-40B4-BE49-F238E27FC236}">
                <a16:creationId xmlns:a16="http://schemas.microsoft.com/office/drawing/2014/main" id="{9A0B1E05-2E78-4895-B0E8-C0D0341ECB3B}"/>
              </a:ext>
            </a:extLst>
          </p:cNvPr>
          <p:cNvSpPr>
            <a:spLocks xmlns:a="http://schemas.openxmlformats.org/drawingml/2006/main" noGrp="1"/>
          </p:cNvSpPr>
          <p:nvPr/>
        </p:nvSpPr>
        <p:spPr>
          <a:xfrm xmlns:a="http://schemas.openxmlformats.org/drawingml/2006/main">
            <a:off x="685800" y="56388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9A315F"/>
                </a:solidFill>
                <a:latin typeface="Arial"/>
                <a:ea typeface="Arial"/>
                <a:cs typeface="Arial"/>
              </a:defRPr>
            </a:defPPr>
            <a:lvl1pPr>
              <a:defRPr sz="2175" b="1">
                <a:solidFill>
                  <a:srgbClr val="9A315F"/>
                </a:solidFill>
                <a:latin typeface="Arial"/>
                <a:ea typeface="Arial"/>
                <a:cs typeface="Arial"/>
              </a:defRPr>
            </a:lvl1pPr>
            <a:lvl2pPr>
              <a:defRPr sz="2175" b="1">
                <a:solidFill>
                  <a:srgbClr val="9A315F"/>
                </a:solidFill>
                <a:latin typeface="Arial"/>
                <a:ea typeface="Arial"/>
                <a:cs typeface="Arial"/>
              </a:defRPr>
            </a:lvl2pPr>
            <a:lvl3pPr>
              <a:defRPr sz="2175" b="1">
                <a:solidFill>
                  <a:srgbClr val="9A315F"/>
                </a:solidFill>
                <a:latin typeface="Arial"/>
                <a:ea typeface="Arial"/>
                <a:cs typeface="Arial"/>
              </a:defRPr>
            </a:lvl3pPr>
            <a:lvl4pPr>
              <a:defRPr sz="2175" b="1">
                <a:solidFill>
                  <a:srgbClr val="9A315F"/>
                </a:solidFill>
                <a:latin typeface="Arial"/>
                <a:ea typeface="Arial"/>
                <a:cs typeface="Arial"/>
              </a:defRPr>
            </a:lvl4pPr>
            <a:lvl5pPr>
              <a:defRPr sz="2175" b="1">
                <a:solidFill>
                  <a:srgbClr val="9A315F"/>
                </a:solidFill>
                <a:latin typeface="Arial"/>
                <a:ea typeface="Arial"/>
                <a:cs typeface="Arial"/>
              </a:defRPr>
            </a:lvl5pPr>
            <a:lvl6pPr>
              <a:defRPr sz="2175" b="1">
                <a:solidFill>
                  <a:srgbClr val="9A315F"/>
                </a:solidFill>
                <a:latin typeface="Arial"/>
                <a:ea typeface="Arial"/>
                <a:cs typeface="Arial"/>
              </a:defRPr>
            </a:lvl6pPr>
            <a:lvl7pPr>
              <a:defRPr sz="2175" b="1">
                <a:solidFill>
                  <a:srgbClr val="9A315F"/>
                </a:solidFill>
                <a:latin typeface="Arial"/>
                <a:ea typeface="Arial"/>
                <a:cs typeface="Arial"/>
              </a:defRPr>
            </a:lvl7pPr>
            <a:lvl8pPr>
              <a:defRPr sz="2175" b="1">
                <a:solidFill>
                  <a:srgbClr val="9A315F"/>
                </a:solidFill>
                <a:latin typeface="Arial"/>
                <a:ea typeface="Arial"/>
                <a:cs typeface="Arial"/>
              </a:defRPr>
            </a:lvl8pPr>
            <a:lvl9pPr>
              <a:defRPr sz="2175" b="1">
                <a:solidFill>
                  <a:srgbClr val="9A315F"/>
                </a:solidFill>
                <a:latin typeface="Arial"/>
                <a:ea typeface="Arial"/>
                <a:cs typeface="Arial"/>
              </a:defRPr>
            </a:lvl9pPr>
          </a:lstStyle>
          <a:p xmlns:a="http://schemas.openxmlformats.org/drawingml/2006/main">
            <a:pPr>
              <a:defRPr sz="2175" b="1">
                <a:solidFill>
                  <a:srgbClr val="9A315F"/>
                </a:solidFill>
                <a:latin typeface="Arial"/>
                <a:ea typeface="Arial"/>
                <a:cs typeface="Arial"/>
              </a:defRPr>
            </a:pPr>
            <a:r>
              <a:rPr sz="2175" b="1">
                <a:solidFill>
                  <a:srgbClr val="9A315F"/>
                </a:solidFill>
                <a:latin typeface="Arial"/>
                <a:ea typeface="Arial"/>
                <a:cs typeface="Arial"/>
              </a:rPr>
              <a:t>Primero validar la señal. Después medir el efecto real de la acción.</a:t>
            </a:r>
          </a:p>
        </p:txBody>
      </p:sp>
    </p:spTree>
    <p:extLst>
      <p:ext uri="{BB962C8B-B14F-4D97-AF65-F5344CB8AC3E}">
        <p14:creationId xmlns:p14="http://schemas.microsoft.com/office/powerpoint/2010/main" val="1906471194"/>
      </p:ext>
    </p:extLst>
  </p:cSld>
</p:sld>
</file>

<file path=ppt/slides/slide8.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3AEF6DE-5ACC-41DC-BD21-B5A071017715}"/>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Una operación diaria sencilla en AWS</a:t>
            </a:r>
          </a:p>
        </p:txBody>
      </p:sp>
      <p:sp>
        <p:nvSpPr>
          <p:cNvPr id="2" name="">
            <a:extLst xmlns:a="http://schemas.openxmlformats.org/drawingml/2006/main">
              <a:ext uri="{FF2B5EF4-FFF2-40B4-BE49-F238E27FC236}">
                <a16:creationId xmlns:a16="http://schemas.microsoft.com/office/drawing/2014/main" id="{9CF9F4E0-C01D-47A3-834D-F48C87601C26}"/>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La propuesta recibe los datos, revisa su calidad y entrega una lista de probabilidades para negocio.</a:t>
            </a:r>
          </a:p>
        </p:txBody>
      </p:sp>
      <p:sp>
        <p:nvSpPr>
          <p:cNvPr id="3" name="">
            <a:extLst xmlns:a="http://schemas.openxmlformats.org/drawingml/2006/main">
              <a:ext uri="{FF2B5EF4-FFF2-40B4-BE49-F238E27FC236}">
                <a16:creationId xmlns:a16="http://schemas.microsoft.com/office/drawing/2014/main" id="{741BFA03-444B-4CE5-977F-CDB745A38D9D}"/>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94CA2B25-73FE-4E3A-AA9F-77840F5729DE}"/>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F0648A5-DC26-42B3-BC7A-C3E8D7A4B75E}"/>
              </a:ext>
            </a:extLst>
          </p:cNvPr>
          <p:cNvSpPr>
            <a:spLocks xmlns:a="http://schemas.openxmlformats.org/drawingml/2006/main" noGrp="1"/>
          </p:cNvSpPr>
          <p:nvPr/>
        </p:nvSpPr>
        <p:spPr>
          <a:xfrm xmlns:a="http://schemas.openxmlformats.org/drawingml/2006/main">
            <a:off x="685800" y="2857500"/>
            <a:ext cx="2381250" cy="1190625"/>
          </a:xfrm>
          <a:prstGeom xmlns:a="http://schemas.openxmlformats.org/drawingml/2006/main" prst="rect">
            <a:avLst/>
          </a:prstGeom>
          <a:solidFill xmlns:a="http://schemas.openxmlformats.org/drawingml/2006/main">
            <a:srgbClr val="FFFFFF"/>
          </a:solidFill>
          <a:ln xmlns:a="http://schemas.openxmlformats.org/drawingml/2006/main" w="11430">
            <a:solidFill>
              <a:srgbClr val="AEBEC8"/>
            </a:solidFill>
          </a:ln>
        </p:spPr>
      </p:sp>
      <p:sp>
        <p:nvSpPr>
          <p:cNvPr id="6" name="">
            <a:extLst xmlns:a="http://schemas.openxmlformats.org/drawingml/2006/main">
              <a:ext uri="{FF2B5EF4-FFF2-40B4-BE49-F238E27FC236}">
                <a16:creationId xmlns:a16="http://schemas.microsoft.com/office/drawing/2014/main" id="{08EA097F-4343-4467-8969-C16C784E619E}"/>
              </a:ext>
            </a:extLst>
          </p:cNvPr>
          <p:cNvSpPr>
            <a:spLocks xmlns:a="http://schemas.openxmlformats.org/drawingml/2006/main" noGrp="1"/>
          </p:cNvSpPr>
          <p:nvPr/>
        </p:nvSpPr>
        <p:spPr>
          <a:xfrm xmlns:a="http://schemas.openxmlformats.org/drawingml/2006/main">
            <a:off x="819150" y="298132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C40"/>
                </a:solidFill>
                <a:latin typeface="Arial"/>
                <a:ea typeface="Arial"/>
                <a:cs typeface="Arial"/>
              </a:defRPr>
            </a:defPPr>
            <a:lvl1pPr>
              <a:defRPr sz="2025" b="1">
                <a:solidFill>
                  <a:srgbClr val="152C40"/>
                </a:solidFill>
                <a:latin typeface="Arial"/>
                <a:ea typeface="Arial"/>
                <a:cs typeface="Arial"/>
              </a:defRPr>
            </a:lvl1pPr>
            <a:lvl2pPr>
              <a:defRPr sz="2025" b="1">
                <a:solidFill>
                  <a:srgbClr val="152C40"/>
                </a:solidFill>
                <a:latin typeface="Arial"/>
                <a:ea typeface="Arial"/>
                <a:cs typeface="Arial"/>
              </a:defRPr>
            </a:lvl2pPr>
            <a:lvl3pPr>
              <a:defRPr sz="2025" b="1">
                <a:solidFill>
                  <a:srgbClr val="152C40"/>
                </a:solidFill>
                <a:latin typeface="Arial"/>
                <a:ea typeface="Arial"/>
                <a:cs typeface="Arial"/>
              </a:defRPr>
            </a:lvl3pPr>
            <a:lvl4pPr>
              <a:defRPr sz="2025" b="1">
                <a:solidFill>
                  <a:srgbClr val="152C40"/>
                </a:solidFill>
                <a:latin typeface="Arial"/>
                <a:ea typeface="Arial"/>
                <a:cs typeface="Arial"/>
              </a:defRPr>
            </a:lvl4pPr>
            <a:lvl5pPr>
              <a:defRPr sz="2025" b="1">
                <a:solidFill>
                  <a:srgbClr val="152C40"/>
                </a:solidFill>
                <a:latin typeface="Arial"/>
                <a:ea typeface="Arial"/>
                <a:cs typeface="Arial"/>
              </a:defRPr>
            </a:lvl5pPr>
            <a:lvl6pPr>
              <a:defRPr sz="2025" b="1">
                <a:solidFill>
                  <a:srgbClr val="152C40"/>
                </a:solidFill>
                <a:latin typeface="Arial"/>
                <a:ea typeface="Arial"/>
                <a:cs typeface="Arial"/>
              </a:defRPr>
            </a:lvl6pPr>
            <a:lvl7pPr>
              <a:defRPr sz="2025" b="1">
                <a:solidFill>
                  <a:srgbClr val="152C40"/>
                </a:solidFill>
                <a:latin typeface="Arial"/>
                <a:ea typeface="Arial"/>
                <a:cs typeface="Arial"/>
              </a:defRPr>
            </a:lvl7pPr>
            <a:lvl8pPr>
              <a:defRPr sz="2025" b="1">
                <a:solidFill>
                  <a:srgbClr val="152C40"/>
                </a:solidFill>
                <a:latin typeface="Arial"/>
                <a:ea typeface="Arial"/>
                <a:cs typeface="Arial"/>
              </a:defRPr>
            </a:lvl8pPr>
            <a:lvl9pPr>
              <a:defRPr sz="2025" b="1">
                <a:solidFill>
                  <a:srgbClr val="152C40"/>
                </a:solidFill>
                <a:latin typeface="Arial"/>
                <a:ea typeface="Arial"/>
                <a:cs typeface="Arial"/>
              </a:defRPr>
            </a:lvl9pPr>
          </a:lstStyle>
          <a:p xmlns:a="http://schemas.openxmlformats.org/drawingml/2006/main">
            <a:pPr>
              <a:defRPr sz="2025" b="1">
                <a:solidFill>
                  <a:srgbClr val="152C40"/>
                </a:solidFill>
                <a:latin typeface="Arial"/>
                <a:ea typeface="Arial"/>
                <a:cs typeface="Arial"/>
              </a:defRPr>
            </a:pPr>
            <a:r>
              <a:rPr sz="2025" b="1">
                <a:solidFill>
                  <a:srgbClr val="152C40"/>
                </a:solidFill>
                <a:latin typeface="Arial"/>
                <a:ea typeface="Arial"/>
                <a:cs typeface="Arial"/>
              </a:rPr>
              <a:t>Recibir los datos</a:t>
            </a:r>
          </a:p>
        </p:txBody>
      </p:sp>
      <p:sp>
        <p:nvSpPr>
          <p:cNvPr id="7" name="">
            <a:extLst xmlns:a="http://schemas.openxmlformats.org/drawingml/2006/main">
              <a:ext uri="{FF2B5EF4-FFF2-40B4-BE49-F238E27FC236}">
                <a16:creationId xmlns:a16="http://schemas.microsoft.com/office/drawing/2014/main" id="{FF67AD61-37EF-46A3-8A4B-693B8C766130}"/>
              </a:ext>
            </a:extLst>
          </p:cNvPr>
          <p:cNvSpPr>
            <a:spLocks xmlns:a="http://schemas.openxmlformats.org/drawingml/2006/main" noGrp="1"/>
          </p:cNvSpPr>
          <p:nvPr/>
        </p:nvSpPr>
        <p:spPr>
          <a:xfrm xmlns:a="http://schemas.openxmlformats.org/drawingml/2006/main">
            <a:off x="819150" y="3657600"/>
            <a:ext cx="2114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5"/>
                </a:solidFill>
                <a:latin typeface="Arial"/>
                <a:ea typeface="Arial"/>
                <a:cs typeface="Arial"/>
              </a:defRPr>
            </a:defPPr>
            <a:lvl1pPr>
              <a:defRPr sz="1500" b="0">
                <a:solidFill>
                  <a:srgbClr val="526775"/>
                </a:solidFill>
                <a:latin typeface="Arial"/>
                <a:ea typeface="Arial"/>
                <a:cs typeface="Arial"/>
              </a:defRPr>
            </a:lvl1pPr>
            <a:lvl2pPr>
              <a:defRPr sz="1500" b="0">
                <a:solidFill>
                  <a:srgbClr val="526775"/>
                </a:solidFill>
                <a:latin typeface="Arial"/>
                <a:ea typeface="Arial"/>
                <a:cs typeface="Arial"/>
              </a:defRPr>
            </a:lvl2pPr>
            <a:lvl3pPr>
              <a:defRPr sz="1500" b="0">
                <a:solidFill>
                  <a:srgbClr val="526775"/>
                </a:solidFill>
                <a:latin typeface="Arial"/>
                <a:ea typeface="Arial"/>
                <a:cs typeface="Arial"/>
              </a:defRPr>
            </a:lvl3pPr>
            <a:lvl4pPr>
              <a:defRPr sz="1500" b="0">
                <a:solidFill>
                  <a:srgbClr val="526775"/>
                </a:solidFill>
                <a:latin typeface="Arial"/>
                <a:ea typeface="Arial"/>
                <a:cs typeface="Arial"/>
              </a:defRPr>
            </a:lvl4pPr>
            <a:lvl5pPr>
              <a:defRPr sz="1500" b="0">
                <a:solidFill>
                  <a:srgbClr val="526775"/>
                </a:solidFill>
                <a:latin typeface="Arial"/>
                <a:ea typeface="Arial"/>
                <a:cs typeface="Arial"/>
              </a:defRPr>
            </a:lvl5pPr>
            <a:lvl6pPr>
              <a:defRPr sz="1500" b="0">
                <a:solidFill>
                  <a:srgbClr val="526775"/>
                </a:solidFill>
                <a:latin typeface="Arial"/>
                <a:ea typeface="Arial"/>
                <a:cs typeface="Arial"/>
              </a:defRPr>
            </a:lvl6pPr>
            <a:lvl7pPr>
              <a:defRPr sz="1500" b="0">
                <a:solidFill>
                  <a:srgbClr val="526775"/>
                </a:solidFill>
                <a:latin typeface="Arial"/>
                <a:ea typeface="Arial"/>
                <a:cs typeface="Arial"/>
              </a:defRPr>
            </a:lvl7pPr>
            <a:lvl8pPr>
              <a:defRPr sz="1500" b="0">
                <a:solidFill>
                  <a:srgbClr val="526775"/>
                </a:solidFill>
                <a:latin typeface="Arial"/>
                <a:ea typeface="Arial"/>
                <a:cs typeface="Arial"/>
              </a:defRPr>
            </a:lvl8pPr>
            <a:lvl9pPr>
              <a:defRPr sz="1500" b="0">
                <a:solidFill>
                  <a:srgbClr val="526775"/>
                </a:solidFill>
                <a:latin typeface="Arial"/>
                <a:ea typeface="Arial"/>
                <a:cs typeface="Arial"/>
              </a:defRPr>
            </a:lvl9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Amazon S3</a:t>
            </a:r>
          </a:p>
        </p:txBody>
      </p:sp>
      <p:sp>
        <p:nvSpPr>
          <p:cNvPr id="8" name="">
            <a:extLst xmlns:a="http://schemas.openxmlformats.org/drawingml/2006/main">
              <a:ext uri="{FF2B5EF4-FFF2-40B4-BE49-F238E27FC236}">
                <a16:creationId xmlns:a16="http://schemas.microsoft.com/office/drawing/2014/main" id="{E987BC8D-3349-46FF-B219-C3317BA612A9}"/>
              </a:ext>
            </a:extLst>
          </p:cNvPr>
          <p:cNvSpPr>
            <a:spLocks xmlns:a="http://schemas.openxmlformats.org/drawingml/2006/main" noGrp="1"/>
          </p:cNvSpPr>
          <p:nvPr/>
        </p:nvSpPr>
        <p:spPr>
          <a:xfrm xmlns:a="http://schemas.openxmlformats.org/drawingml/2006/main">
            <a:off x="3495675" y="2857500"/>
            <a:ext cx="2381250" cy="1190625"/>
          </a:xfrm>
          <a:prstGeom xmlns:a="http://schemas.openxmlformats.org/drawingml/2006/main" prst="rect">
            <a:avLst/>
          </a:prstGeom>
          <a:solidFill xmlns:a="http://schemas.openxmlformats.org/drawingml/2006/main">
            <a:srgbClr val="FFFFFF"/>
          </a:solidFill>
          <a:ln xmlns:a="http://schemas.openxmlformats.org/drawingml/2006/main" w="11430">
            <a:solidFill>
              <a:srgbClr val="AEBEC8"/>
            </a:solidFill>
          </a:ln>
        </p:spPr>
      </p:sp>
      <p:sp>
        <p:nvSpPr>
          <p:cNvPr id="9" name="">
            <a:extLst xmlns:a="http://schemas.openxmlformats.org/drawingml/2006/main">
              <a:ext uri="{FF2B5EF4-FFF2-40B4-BE49-F238E27FC236}">
                <a16:creationId xmlns:a16="http://schemas.microsoft.com/office/drawing/2014/main" id="{AA7C7F99-1E04-45DF-A221-F09979CC5BE6}"/>
              </a:ext>
            </a:extLst>
          </p:cNvPr>
          <p:cNvSpPr>
            <a:spLocks xmlns:a="http://schemas.openxmlformats.org/drawingml/2006/main" noGrp="1"/>
          </p:cNvSpPr>
          <p:nvPr/>
        </p:nvSpPr>
        <p:spPr>
          <a:xfrm xmlns:a="http://schemas.openxmlformats.org/drawingml/2006/main">
            <a:off x="3629025" y="298132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C40"/>
                </a:solidFill>
                <a:latin typeface="Arial"/>
                <a:ea typeface="Arial"/>
                <a:cs typeface="Arial"/>
              </a:defRPr>
            </a:defPPr>
            <a:lvl1pPr>
              <a:defRPr sz="2025" b="1">
                <a:solidFill>
                  <a:srgbClr val="152C40"/>
                </a:solidFill>
                <a:latin typeface="Arial"/>
                <a:ea typeface="Arial"/>
                <a:cs typeface="Arial"/>
              </a:defRPr>
            </a:lvl1pPr>
            <a:lvl2pPr>
              <a:defRPr sz="2025" b="1">
                <a:solidFill>
                  <a:srgbClr val="152C40"/>
                </a:solidFill>
                <a:latin typeface="Arial"/>
                <a:ea typeface="Arial"/>
                <a:cs typeface="Arial"/>
              </a:defRPr>
            </a:lvl2pPr>
            <a:lvl3pPr>
              <a:defRPr sz="2025" b="1">
                <a:solidFill>
                  <a:srgbClr val="152C40"/>
                </a:solidFill>
                <a:latin typeface="Arial"/>
                <a:ea typeface="Arial"/>
                <a:cs typeface="Arial"/>
              </a:defRPr>
            </a:lvl3pPr>
            <a:lvl4pPr>
              <a:defRPr sz="2025" b="1">
                <a:solidFill>
                  <a:srgbClr val="152C40"/>
                </a:solidFill>
                <a:latin typeface="Arial"/>
                <a:ea typeface="Arial"/>
                <a:cs typeface="Arial"/>
              </a:defRPr>
            </a:lvl4pPr>
            <a:lvl5pPr>
              <a:defRPr sz="2025" b="1">
                <a:solidFill>
                  <a:srgbClr val="152C40"/>
                </a:solidFill>
                <a:latin typeface="Arial"/>
                <a:ea typeface="Arial"/>
                <a:cs typeface="Arial"/>
              </a:defRPr>
            </a:lvl5pPr>
            <a:lvl6pPr>
              <a:defRPr sz="2025" b="1">
                <a:solidFill>
                  <a:srgbClr val="152C40"/>
                </a:solidFill>
                <a:latin typeface="Arial"/>
                <a:ea typeface="Arial"/>
                <a:cs typeface="Arial"/>
              </a:defRPr>
            </a:lvl6pPr>
            <a:lvl7pPr>
              <a:defRPr sz="2025" b="1">
                <a:solidFill>
                  <a:srgbClr val="152C40"/>
                </a:solidFill>
                <a:latin typeface="Arial"/>
                <a:ea typeface="Arial"/>
                <a:cs typeface="Arial"/>
              </a:defRPr>
            </a:lvl7pPr>
            <a:lvl8pPr>
              <a:defRPr sz="2025" b="1">
                <a:solidFill>
                  <a:srgbClr val="152C40"/>
                </a:solidFill>
                <a:latin typeface="Arial"/>
                <a:ea typeface="Arial"/>
                <a:cs typeface="Arial"/>
              </a:defRPr>
            </a:lvl8pPr>
            <a:lvl9pPr>
              <a:defRPr sz="2025" b="1">
                <a:solidFill>
                  <a:srgbClr val="152C40"/>
                </a:solidFill>
                <a:latin typeface="Arial"/>
                <a:ea typeface="Arial"/>
                <a:cs typeface="Arial"/>
              </a:defRPr>
            </a:lvl9pPr>
          </a:lstStyle>
          <a:p xmlns:a="http://schemas.openxmlformats.org/drawingml/2006/main">
            <a:pPr>
              <a:defRPr sz="2025" b="1">
                <a:solidFill>
                  <a:srgbClr val="152C40"/>
                </a:solidFill>
                <a:latin typeface="Arial"/>
                <a:ea typeface="Arial"/>
                <a:cs typeface="Arial"/>
              </a:defRPr>
            </a:pPr>
            <a:r>
              <a:rPr sz="2025" b="1">
                <a:solidFill>
                  <a:srgbClr val="152C40"/>
                </a:solidFill>
                <a:latin typeface="Arial"/>
                <a:ea typeface="Arial"/>
                <a:cs typeface="Arial"/>
              </a:rPr>
              <a:t>Revisar y preparar</a:t>
            </a:r>
          </a:p>
        </p:txBody>
      </p:sp>
      <p:sp>
        <p:nvSpPr>
          <p:cNvPr id="10" name="">
            <a:extLst xmlns:a="http://schemas.openxmlformats.org/drawingml/2006/main">
              <a:ext uri="{FF2B5EF4-FFF2-40B4-BE49-F238E27FC236}">
                <a16:creationId xmlns:a16="http://schemas.microsoft.com/office/drawing/2014/main" id="{14FFF467-5708-4391-A279-C2063D8C68F1}"/>
              </a:ext>
            </a:extLst>
          </p:cNvPr>
          <p:cNvSpPr>
            <a:spLocks xmlns:a="http://schemas.openxmlformats.org/drawingml/2006/main" noGrp="1"/>
          </p:cNvSpPr>
          <p:nvPr/>
        </p:nvSpPr>
        <p:spPr>
          <a:xfrm xmlns:a="http://schemas.openxmlformats.org/drawingml/2006/main">
            <a:off x="3629025" y="3657600"/>
            <a:ext cx="2114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5"/>
                </a:solidFill>
                <a:latin typeface="Arial"/>
                <a:ea typeface="Arial"/>
                <a:cs typeface="Arial"/>
              </a:defRPr>
            </a:defPPr>
            <a:lvl1pPr>
              <a:defRPr sz="1500" b="0">
                <a:solidFill>
                  <a:srgbClr val="526775"/>
                </a:solidFill>
                <a:latin typeface="Arial"/>
                <a:ea typeface="Arial"/>
                <a:cs typeface="Arial"/>
              </a:defRPr>
            </a:lvl1pPr>
            <a:lvl2pPr>
              <a:defRPr sz="1500" b="0">
                <a:solidFill>
                  <a:srgbClr val="526775"/>
                </a:solidFill>
                <a:latin typeface="Arial"/>
                <a:ea typeface="Arial"/>
                <a:cs typeface="Arial"/>
              </a:defRPr>
            </a:lvl2pPr>
            <a:lvl3pPr>
              <a:defRPr sz="1500" b="0">
                <a:solidFill>
                  <a:srgbClr val="526775"/>
                </a:solidFill>
                <a:latin typeface="Arial"/>
                <a:ea typeface="Arial"/>
                <a:cs typeface="Arial"/>
              </a:defRPr>
            </a:lvl3pPr>
            <a:lvl4pPr>
              <a:defRPr sz="1500" b="0">
                <a:solidFill>
                  <a:srgbClr val="526775"/>
                </a:solidFill>
                <a:latin typeface="Arial"/>
                <a:ea typeface="Arial"/>
                <a:cs typeface="Arial"/>
              </a:defRPr>
            </a:lvl4pPr>
            <a:lvl5pPr>
              <a:defRPr sz="1500" b="0">
                <a:solidFill>
                  <a:srgbClr val="526775"/>
                </a:solidFill>
                <a:latin typeface="Arial"/>
                <a:ea typeface="Arial"/>
                <a:cs typeface="Arial"/>
              </a:defRPr>
            </a:lvl5pPr>
            <a:lvl6pPr>
              <a:defRPr sz="1500" b="0">
                <a:solidFill>
                  <a:srgbClr val="526775"/>
                </a:solidFill>
                <a:latin typeface="Arial"/>
                <a:ea typeface="Arial"/>
                <a:cs typeface="Arial"/>
              </a:defRPr>
            </a:lvl6pPr>
            <a:lvl7pPr>
              <a:defRPr sz="1500" b="0">
                <a:solidFill>
                  <a:srgbClr val="526775"/>
                </a:solidFill>
                <a:latin typeface="Arial"/>
                <a:ea typeface="Arial"/>
                <a:cs typeface="Arial"/>
              </a:defRPr>
            </a:lvl7pPr>
            <a:lvl8pPr>
              <a:defRPr sz="1500" b="0">
                <a:solidFill>
                  <a:srgbClr val="526775"/>
                </a:solidFill>
                <a:latin typeface="Arial"/>
                <a:ea typeface="Arial"/>
                <a:cs typeface="Arial"/>
              </a:defRPr>
            </a:lvl8pPr>
            <a:lvl9pPr>
              <a:defRPr sz="1500" b="0">
                <a:solidFill>
                  <a:srgbClr val="526775"/>
                </a:solidFill>
                <a:latin typeface="Arial"/>
                <a:ea typeface="Arial"/>
                <a:cs typeface="Arial"/>
              </a:defRPr>
            </a:lvl9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AWS Glue</a:t>
            </a:r>
          </a:p>
        </p:txBody>
      </p:sp>
      <p:sp>
        <p:nvSpPr>
          <p:cNvPr id="11" name="">
            <a:extLst xmlns:a="http://schemas.openxmlformats.org/drawingml/2006/main">
              <a:ext uri="{FF2B5EF4-FFF2-40B4-BE49-F238E27FC236}">
                <a16:creationId xmlns:a16="http://schemas.microsoft.com/office/drawing/2014/main" id="{DFBDD1D6-A603-4BFC-8241-F660FD08C399}"/>
              </a:ext>
            </a:extLst>
          </p:cNvPr>
          <p:cNvSpPr>
            <a:spLocks xmlns:a="http://schemas.openxmlformats.org/drawingml/2006/main" noGrp="1"/>
          </p:cNvSpPr>
          <p:nvPr/>
        </p:nvSpPr>
        <p:spPr>
          <a:xfrm xmlns:a="http://schemas.openxmlformats.org/drawingml/2006/main">
            <a:off x="6305550" y="2857500"/>
            <a:ext cx="2381250" cy="1190625"/>
          </a:xfrm>
          <a:prstGeom xmlns:a="http://schemas.openxmlformats.org/drawingml/2006/main" prst="rect">
            <a:avLst/>
          </a:prstGeom>
          <a:solidFill xmlns:a="http://schemas.openxmlformats.org/drawingml/2006/main">
            <a:srgbClr val="FFFFFF"/>
          </a:solidFill>
          <a:ln xmlns:a="http://schemas.openxmlformats.org/drawingml/2006/main" w="11430">
            <a:solidFill>
              <a:srgbClr val="AEBEC8"/>
            </a:solidFill>
          </a:ln>
        </p:spPr>
      </p:sp>
      <p:sp>
        <p:nvSpPr>
          <p:cNvPr id="12" name="">
            <a:extLst xmlns:a="http://schemas.openxmlformats.org/drawingml/2006/main">
              <a:ext uri="{FF2B5EF4-FFF2-40B4-BE49-F238E27FC236}">
                <a16:creationId xmlns:a16="http://schemas.microsoft.com/office/drawing/2014/main" id="{99959944-DC79-4DE8-89C4-18CCBA5473EB}"/>
              </a:ext>
            </a:extLst>
          </p:cNvPr>
          <p:cNvSpPr>
            <a:spLocks xmlns:a="http://schemas.openxmlformats.org/drawingml/2006/main" noGrp="1"/>
          </p:cNvSpPr>
          <p:nvPr/>
        </p:nvSpPr>
        <p:spPr>
          <a:xfrm xmlns:a="http://schemas.openxmlformats.org/drawingml/2006/main">
            <a:off x="6438900" y="298132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C40"/>
                </a:solidFill>
                <a:latin typeface="Arial"/>
                <a:ea typeface="Arial"/>
                <a:cs typeface="Arial"/>
              </a:defRPr>
            </a:defPPr>
            <a:lvl1pPr>
              <a:defRPr sz="2025" b="1">
                <a:solidFill>
                  <a:srgbClr val="152C40"/>
                </a:solidFill>
                <a:latin typeface="Arial"/>
                <a:ea typeface="Arial"/>
                <a:cs typeface="Arial"/>
              </a:defRPr>
            </a:lvl1pPr>
            <a:lvl2pPr>
              <a:defRPr sz="2025" b="1">
                <a:solidFill>
                  <a:srgbClr val="152C40"/>
                </a:solidFill>
                <a:latin typeface="Arial"/>
                <a:ea typeface="Arial"/>
                <a:cs typeface="Arial"/>
              </a:defRPr>
            </a:lvl2pPr>
            <a:lvl3pPr>
              <a:defRPr sz="2025" b="1">
                <a:solidFill>
                  <a:srgbClr val="152C40"/>
                </a:solidFill>
                <a:latin typeface="Arial"/>
                <a:ea typeface="Arial"/>
                <a:cs typeface="Arial"/>
              </a:defRPr>
            </a:lvl3pPr>
            <a:lvl4pPr>
              <a:defRPr sz="2025" b="1">
                <a:solidFill>
                  <a:srgbClr val="152C40"/>
                </a:solidFill>
                <a:latin typeface="Arial"/>
                <a:ea typeface="Arial"/>
                <a:cs typeface="Arial"/>
              </a:defRPr>
            </a:lvl4pPr>
            <a:lvl5pPr>
              <a:defRPr sz="2025" b="1">
                <a:solidFill>
                  <a:srgbClr val="152C40"/>
                </a:solidFill>
                <a:latin typeface="Arial"/>
                <a:ea typeface="Arial"/>
                <a:cs typeface="Arial"/>
              </a:defRPr>
            </a:lvl5pPr>
            <a:lvl6pPr>
              <a:defRPr sz="2025" b="1">
                <a:solidFill>
                  <a:srgbClr val="152C40"/>
                </a:solidFill>
                <a:latin typeface="Arial"/>
                <a:ea typeface="Arial"/>
                <a:cs typeface="Arial"/>
              </a:defRPr>
            </a:lvl6pPr>
            <a:lvl7pPr>
              <a:defRPr sz="2025" b="1">
                <a:solidFill>
                  <a:srgbClr val="152C40"/>
                </a:solidFill>
                <a:latin typeface="Arial"/>
                <a:ea typeface="Arial"/>
                <a:cs typeface="Arial"/>
              </a:defRPr>
            </a:lvl7pPr>
            <a:lvl8pPr>
              <a:defRPr sz="2025" b="1">
                <a:solidFill>
                  <a:srgbClr val="152C40"/>
                </a:solidFill>
                <a:latin typeface="Arial"/>
                <a:ea typeface="Arial"/>
                <a:cs typeface="Arial"/>
              </a:defRPr>
            </a:lvl8pPr>
            <a:lvl9pPr>
              <a:defRPr sz="2025" b="1">
                <a:solidFill>
                  <a:srgbClr val="152C40"/>
                </a:solidFill>
                <a:latin typeface="Arial"/>
                <a:ea typeface="Arial"/>
                <a:cs typeface="Arial"/>
              </a:defRPr>
            </a:lvl9pPr>
          </a:lstStyle>
          <a:p xmlns:a="http://schemas.openxmlformats.org/drawingml/2006/main">
            <a:pPr>
              <a:defRPr sz="2025" b="1">
                <a:solidFill>
                  <a:srgbClr val="152C40"/>
                </a:solidFill>
                <a:latin typeface="Arial"/>
                <a:ea typeface="Arial"/>
                <a:cs typeface="Arial"/>
              </a:defRPr>
            </a:pPr>
            <a:r>
              <a:rPr sz="2025" b="1">
                <a:solidFill>
                  <a:srgbClr val="152C40"/>
                </a:solidFill>
                <a:latin typeface="Arial"/>
                <a:ea typeface="Arial"/>
                <a:cs typeface="Arial"/>
              </a:rPr>
              <a:t>Calcular probabilidades</a:t>
            </a:r>
          </a:p>
        </p:txBody>
      </p:sp>
      <p:sp>
        <p:nvSpPr>
          <p:cNvPr id="13" name="">
            <a:extLst xmlns:a="http://schemas.openxmlformats.org/drawingml/2006/main">
              <a:ext uri="{FF2B5EF4-FFF2-40B4-BE49-F238E27FC236}">
                <a16:creationId xmlns:a16="http://schemas.microsoft.com/office/drawing/2014/main" id="{B35818C0-4CF6-480B-9776-E38BD7AEA0B3}"/>
              </a:ext>
            </a:extLst>
          </p:cNvPr>
          <p:cNvSpPr>
            <a:spLocks xmlns:a="http://schemas.openxmlformats.org/drawingml/2006/main" noGrp="1"/>
          </p:cNvSpPr>
          <p:nvPr/>
        </p:nvSpPr>
        <p:spPr>
          <a:xfrm xmlns:a="http://schemas.openxmlformats.org/drawingml/2006/main">
            <a:off x="6438900" y="3657600"/>
            <a:ext cx="2114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5"/>
                </a:solidFill>
                <a:latin typeface="Arial"/>
                <a:ea typeface="Arial"/>
                <a:cs typeface="Arial"/>
              </a:defRPr>
            </a:defPPr>
            <a:lvl1pPr>
              <a:defRPr sz="1500" b="0">
                <a:solidFill>
                  <a:srgbClr val="526775"/>
                </a:solidFill>
                <a:latin typeface="Arial"/>
                <a:ea typeface="Arial"/>
                <a:cs typeface="Arial"/>
              </a:defRPr>
            </a:lvl1pPr>
            <a:lvl2pPr>
              <a:defRPr sz="1500" b="0">
                <a:solidFill>
                  <a:srgbClr val="526775"/>
                </a:solidFill>
                <a:latin typeface="Arial"/>
                <a:ea typeface="Arial"/>
                <a:cs typeface="Arial"/>
              </a:defRPr>
            </a:lvl2pPr>
            <a:lvl3pPr>
              <a:defRPr sz="1500" b="0">
                <a:solidFill>
                  <a:srgbClr val="526775"/>
                </a:solidFill>
                <a:latin typeface="Arial"/>
                <a:ea typeface="Arial"/>
                <a:cs typeface="Arial"/>
              </a:defRPr>
            </a:lvl3pPr>
            <a:lvl4pPr>
              <a:defRPr sz="1500" b="0">
                <a:solidFill>
                  <a:srgbClr val="526775"/>
                </a:solidFill>
                <a:latin typeface="Arial"/>
                <a:ea typeface="Arial"/>
                <a:cs typeface="Arial"/>
              </a:defRPr>
            </a:lvl4pPr>
            <a:lvl5pPr>
              <a:defRPr sz="1500" b="0">
                <a:solidFill>
                  <a:srgbClr val="526775"/>
                </a:solidFill>
                <a:latin typeface="Arial"/>
                <a:ea typeface="Arial"/>
                <a:cs typeface="Arial"/>
              </a:defRPr>
            </a:lvl5pPr>
            <a:lvl6pPr>
              <a:defRPr sz="1500" b="0">
                <a:solidFill>
                  <a:srgbClr val="526775"/>
                </a:solidFill>
                <a:latin typeface="Arial"/>
                <a:ea typeface="Arial"/>
                <a:cs typeface="Arial"/>
              </a:defRPr>
            </a:lvl6pPr>
            <a:lvl7pPr>
              <a:defRPr sz="1500" b="0">
                <a:solidFill>
                  <a:srgbClr val="526775"/>
                </a:solidFill>
                <a:latin typeface="Arial"/>
                <a:ea typeface="Arial"/>
                <a:cs typeface="Arial"/>
              </a:defRPr>
            </a:lvl7pPr>
            <a:lvl8pPr>
              <a:defRPr sz="1500" b="0">
                <a:solidFill>
                  <a:srgbClr val="526775"/>
                </a:solidFill>
                <a:latin typeface="Arial"/>
                <a:ea typeface="Arial"/>
                <a:cs typeface="Arial"/>
              </a:defRPr>
            </a:lvl8pPr>
            <a:lvl9pPr>
              <a:defRPr sz="1500" b="0">
                <a:solidFill>
                  <a:srgbClr val="526775"/>
                </a:solidFill>
                <a:latin typeface="Arial"/>
                <a:ea typeface="Arial"/>
                <a:cs typeface="Arial"/>
              </a:defRPr>
            </a:lvl9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SageMaker</a:t>
            </a:r>
          </a:p>
        </p:txBody>
      </p:sp>
      <p:sp>
        <p:nvSpPr>
          <p:cNvPr id="14" name="">
            <a:extLst xmlns:a="http://schemas.openxmlformats.org/drawingml/2006/main">
              <a:ext uri="{FF2B5EF4-FFF2-40B4-BE49-F238E27FC236}">
                <a16:creationId xmlns:a16="http://schemas.microsoft.com/office/drawing/2014/main" id="{2C679E62-A62F-4CEF-ACAD-857EA425B33B}"/>
              </a:ext>
            </a:extLst>
          </p:cNvPr>
          <p:cNvSpPr>
            <a:spLocks xmlns:a="http://schemas.openxmlformats.org/drawingml/2006/main" noGrp="1"/>
          </p:cNvSpPr>
          <p:nvPr/>
        </p:nvSpPr>
        <p:spPr>
          <a:xfrm xmlns:a="http://schemas.openxmlformats.org/drawingml/2006/main">
            <a:off x="9115425" y="2857500"/>
            <a:ext cx="2381250" cy="1190625"/>
          </a:xfrm>
          <a:prstGeom xmlns:a="http://schemas.openxmlformats.org/drawingml/2006/main" prst="rect">
            <a:avLst/>
          </a:prstGeom>
          <a:solidFill xmlns:a="http://schemas.openxmlformats.org/drawingml/2006/main">
            <a:srgbClr val="FFFFFF"/>
          </a:solidFill>
          <a:ln xmlns:a="http://schemas.openxmlformats.org/drawingml/2006/main" w="11430">
            <a:solidFill>
              <a:srgbClr val="AEBEC8"/>
            </a:solidFill>
          </a:ln>
        </p:spPr>
      </p:sp>
      <p:sp>
        <p:nvSpPr>
          <p:cNvPr id="15" name="">
            <a:extLst xmlns:a="http://schemas.openxmlformats.org/drawingml/2006/main">
              <a:ext uri="{FF2B5EF4-FFF2-40B4-BE49-F238E27FC236}">
                <a16:creationId xmlns:a16="http://schemas.microsoft.com/office/drawing/2014/main" id="{E72922FF-B9A4-412C-8DA5-4685BE9A6840}"/>
              </a:ext>
            </a:extLst>
          </p:cNvPr>
          <p:cNvSpPr>
            <a:spLocks xmlns:a="http://schemas.openxmlformats.org/drawingml/2006/main" noGrp="1"/>
          </p:cNvSpPr>
          <p:nvPr/>
        </p:nvSpPr>
        <p:spPr>
          <a:xfrm xmlns:a="http://schemas.openxmlformats.org/drawingml/2006/main">
            <a:off x="9248775" y="298132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C40"/>
                </a:solidFill>
                <a:latin typeface="Arial"/>
                <a:ea typeface="Arial"/>
                <a:cs typeface="Arial"/>
              </a:defRPr>
            </a:defPPr>
            <a:lvl1pPr>
              <a:defRPr sz="2025" b="1">
                <a:solidFill>
                  <a:srgbClr val="152C40"/>
                </a:solidFill>
                <a:latin typeface="Arial"/>
                <a:ea typeface="Arial"/>
                <a:cs typeface="Arial"/>
              </a:defRPr>
            </a:lvl1pPr>
            <a:lvl2pPr>
              <a:defRPr sz="2025" b="1">
                <a:solidFill>
                  <a:srgbClr val="152C40"/>
                </a:solidFill>
                <a:latin typeface="Arial"/>
                <a:ea typeface="Arial"/>
                <a:cs typeface="Arial"/>
              </a:defRPr>
            </a:lvl2pPr>
            <a:lvl3pPr>
              <a:defRPr sz="2025" b="1">
                <a:solidFill>
                  <a:srgbClr val="152C40"/>
                </a:solidFill>
                <a:latin typeface="Arial"/>
                <a:ea typeface="Arial"/>
                <a:cs typeface="Arial"/>
              </a:defRPr>
            </a:lvl3pPr>
            <a:lvl4pPr>
              <a:defRPr sz="2025" b="1">
                <a:solidFill>
                  <a:srgbClr val="152C40"/>
                </a:solidFill>
                <a:latin typeface="Arial"/>
                <a:ea typeface="Arial"/>
                <a:cs typeface="Arial"/>
              </a:defRPr>
            </a:lvl4pPr>
            <a:lvl5pPr>
              <a:defRPr sz="2025" b="1">
                <a:solidFill>
                  <a:srgbClr val="152C40"/>
                </a:solidFill>
                <a:latin typeface="Arial"/>
                <a:ea typeface="Arial"/>
                <a:cs typeface="Arial"/>
              </a:defRPr>
            </a:lvl5pPr>
            <a:lvl6pPr>
              <a:defRPr sz="2025" b="1">
                <a:solidFill>
                  <a:srgbClr val="152C40"/>
                </a:solidFill>
                <a:latin typeface="Arial"/>
                <a:ea typeface="Arial"/>
                <a:cs typeface="Arial"/>
              </a:defRPr>
            </a:lvl6pPr>
            <a:lvl7pPr>
              <a:defRPr sz="2025" b="1">
                <a:solidFill>
                  <a:srgbClr val="152C40"/>
                </a:solidFill>
                <a:latin typeface="Arial"/>
                <a:ea typeface="Arial"/>
                <a:cs typeface="Arial"/>
              </a:defRPr>
            </a:lvl7pPr>
            <a:lvl8pPr>
              <a:defRPr sz="2025" b="1">
                <a:solidFill>
                  <a:srgbClr val="152C40"/>
                </a:solidFill>
                <a:latin typeface="Arial"/>
                <a:ea typeface="Arial"/>
                <a:cs typeface="Arial"/>
              </a:defRPr>
            </a:lvl8pPr>
            <a:lvl9pPr>
              <a:defRPr sz="2025" b="1">
                <a:solidFill>
                  <a:srgbClr val="152C40"/>
                </a:solidFill>
                <a:latin typeface="Arial"/>
                <a:ea typeface="Arial"/>
                <a:cs typeface="Arial"/>
              </a:defRPr>
            </a:lvl9pPr>
          </a:lstStyle>
          <a:p xmlns:a="http://schemas.openxmlformats.org/drawingml/2006/main">
            <a:pPr>
              <a:defRPr sz="2025" b="1">
                <a:solidFill>
                  <a:srgbClr val="152C40"/>
                </a:solidFill>
                <a:latin typeface="Arial"/>
                <a:ea typeface="Arial"/>
                <a:cs typeface="Arial"/>
              </a:defRPr>
            </a:pPr>
            <a:r>
              <a:rPr sz="2025" b="1">
                <a:solidFill>
                  <a:srgbClr val="152C40"/>
                </a:solidFill>
                <a:latin typeface="Arial"/>
                <a:ea typeface="Arial"/>
                <a:cs typeface="Arial"/>
              </a:rPr>
              <a:t>Entregar a negocio</a:t>
            </a:r>
          </a:p>
        </p:txBody>
      </p:sp>
      <p:sp>
        <p:nvSpPr>
          <p:cNvPr id="16" name="">
            <a:extLst xmlns:a="http://schemas.openxmlformats.org/drawingml/2006/main">
              <a:ext uri="{FF2B5EF4-FFF2-40B4-BE49-F238E27FC236}">
                <a16:creationId xmlns:a16="http://schemas.microsoft.com/office/drawing/2014/main" id="{291DBF1D-F89F-4B16-B3F5-5CBED7C66283}"/>
              </a:ext>
            </a:extLst>
          </p:cNvPr>
          <p:cNvSpPr>
            <a:spLocks xmlns:a="http://schemas.openxmlformats.org/drawingml/2006/main" noGrp="1"/>
          </p:cNvSpPr>
          <p:nvPr/>
        </p:nvSpPr>
        <p:spPr>
          <a:xfrm xmlns:a="http://schemas.openxmlformats.org/drawingml/2006/main">
            <a:off x="9248775" y="3657600"/>
            <a:ext cx="2114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5"/>
                </a:solidFill>
                <a:latin typeface="Arial"/>
                <a:ea typeface="Arial"/>
                <a:cs typeface="Arial"/>
              </a:defRPr>
            </a:defPPr>
            <a:lvl1pPr>
              <a:defRPr sz="1500" b="0">
                <a:solidFill>
                  <a:srgbClr val="526775"/>
                </a:solidFill>
                <a:latin typeface="Arial"/>
                <a:ea typeface="Arial"/>
                <a:cs typeface="Arial"/>
              </a:defRPr>
            </a:lvl1pPr>
            <a:lvl2pPr>
              <a:defRPr sz="1500" b="0">
                <a:solidFill>
                  <a:srgbClr val="526775"/>
                </a:solidFill>
                <a:latin typeface="Arial"/>
                <a:ea typeface="Arial"/>
                <a:cs typeface="Arial"/>
              </a:defRPr>
            </a:lvl2pPr>
            <a:lvl3pPr>
              <a:defRPr sz="1500" b="0">
                <a:solidFill>
                  <a:srgbClr val="526775"/>
                </a:solidFill>
                <a:latin typeface="Arial"/>
                <a:ea typeface="Arial"/>
                <a:cs typeface="Arial"/>
              </a:defRPr>
            </a:lvl3pPr>
            <a:lvl4pPr>
              <a:defRPr sz="1500" b="0">
                <a:solidFill>
                  <a:srgbClr val="526775"/>
                </a:solidFill>
                <a:latin typeface="Arial"/>
                <a:ea typeface="Arial"/>
                <a:cs typeface="Arial"/>
              </a:defRPr>
            </a:lvl4pPr>
            <a:lvl5pPr>
              <a:defRPr sz="1500" b="0">
                <a:solidFill>
                  <a:srgbClr val="526775"/>
                </a:solidFill>
                <a:latin typeface="Arial"/>
                <a:ea typeface="Arial"/>
                <a:cs typeface="Arial"/>
              </a:defRPr>
            </a:lvl5pPr>
            <a:lvl6pPr>
              <a:defRPr sz="1500" b="0">
                <a:solidFill>
                  <a:srgbClr val="526775"/>
                </a:solidFill>
                <a:latin typeface="Arial"/>
                <a:ea typeface="Arial"/>
                <a:cs typeface="Arial"/>
              </a:defRPr>
            </a:lvl6pPr>
            <a:lvl7pPr>
              <a:defRPr sz="1500" b="0">
                <a:solidFill>
                  <a:srgbClr val="526775"/>
                </a:solidFill>
                <a:latin typeface="Arial"/>
                <a:ea typeface="Arial"/>
                <a:cs typeface="Arial"/>
              </a:defRPr>
            </a:lvl7pPr>
            <a:lvl8pPr>
              <a:defRPr sz="1500" b="0">
                <a:solidFill>
                  <a:srgbClr val="526775"/>
                </a:solidFill>
                <a:latin typeface="Arial"/>
                <a:ea typeface="Arial"/>
                <a:cs typeface="Arial"/>
              </a:defRPr>
            </a:lvl8pPr>
            <a:lvl9pPr>
              <a:defRPr sz="1500" b="0">
                <a:solidFill>
                  <a:srgbClr val="526775"/>
                </a:solidFill>
                <a:latin typeface="Arial"/>
                <a:ea typeface="Arial"/>
                <a:cs typeface="Arial"/>
              </a:defRPr>
            </a:lvl9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S3, Athena y CRM</a:t>
            </a:r>
          </a:p>
        </p:txBody>
      </p:sp>
      <p:sp>
        <p:nvSpPr>
          <p:cNvPr id="17" name="">
            <a:extLst xmlns:a="http://schemas.openxmlformats.org/drawingml/2006/main">
              <a:ext uri="{FF2B5EF4-FFF2-40B4-BE49-F238E27FC236}">
                <a16:creationId xmlns:a16="http://schemas.microsoft.com/office/drawing/2014/main" id="{511BEFD5-0681-4663-A750-63EFA4672CE4}"/>
              </a:ext>
            </a:extLst>
          </p:cNvPr>
          <p:cNvSpPr>
            <a:spLocks xmlns:a="http://schemas.openxmlformats.org/drawingml/2006/main" noGrp="1"/>
          </p:cNvSpPr>
          <p:nvPr/>
        </p:nvSpPr>
        <p:spPr>
          <a:xfrm xmlns:a="http://schemas.openxmlformats.org/drawingml/2006/main">
            <a:off x="3143250" y="3333750"/>
            <a:ext cx="285750" cy="219075"/>
          </a:xfrm>
          <a:prstGeom xmlns:a="http://schemas.openxmlformats.org/drawingml/2006/main" prst="rightArrow">
            <a:avLst/>
          </a:prstGeom>
          <a:solidFill xmlns:a="http://schemas.openxmlformats.org/drawingml/2006/main">
            <a:srgbClr val="32657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3076261-4AD1-45A4-980B-2126057848AA}"/>
              </a:ext>
            </a:extLst>
          </p:cNvPr>
          <p:cNvSpPr>
            <a:spLocks xmlns:a="http://schemas.openxmlformats.org/drawingml/2006/main" noGrp="1"/>
          </p:cNvSpPr>
          <p:nvPr/>
        </p:nvSpPr>
        <p:spPr>
          <a:xfrm xmlns:a="http://schemas.openxmlformats.org/drawingml/2006/main">
            <a:off x="5953125" y="3333750"/>
            <a:ext cx="285750" cy="219075"/>
          </a:xfrm>
          <a:prstGeom xmlns:a="http://schemas.openxmlformats.org/drawingml/2006/main" prst="rightArrow">
            <a:avLst/>
          </a:prstGeom>
          <a:solidFill xmlns:a="http://schemas.openxmlformats.org/drawingml/2006/main">
            <a:srgbClr val="32657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500E259-0F23-4773-8A80-F70AE05A4059}"/>
              </a:ext>
            </a:extLst>
          </p:cNvPr>
          <p:cNvSpPr>
            <a:spLocks xmlns:a="http://schemas.openxmlformats.org/drawingml/2006/main" noGrp="1"/>
          </p:cNvSpPr>
          <p:nvPr/>
        </p:nvSpPr>
        <p:spPr>
          <a:xfrm xmlns:a="http://schemas.openxmlformats.org/drawingml/2006/main">
            <a:off x="8763000" y="3333750"/>
            <a:ext cx="285750" cy="219075"/>
          </a:xfrm>
          <a:prstGeom xmlns:a="http://schemas.openxmlformats.org/drawingml/2006/main" prst="rightArrow">
            <a:avLst/>
          </a:prstGeom>
          <a:solidFill xmlns:a="http://schemas.openxmlformats.org/drawingml/2006/main">
            <a:srgbClr val="32657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7A32982-6149-480C-B5E7-2169E173C878}"/>
              </a:ext>
            </a:extLst>
          </p:cNvPr>
          <p:cNvSpPr>
            <a:spLocks xmlns:a="http://schemas.openxmlformats.org/drawingml/2006/main" noGrp="1"/>
          </p:cNvSpPr>
          <p:nvPr/>
        </p:nvSpPr>
        <p:spPr>
          <a:xfrm xmlns:a="http://schemas.openxmlformats.org/drawingml/2006/main">
            <a:off x="685800" y="45624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9A315F"/>
                </a:solidFill>
                <a:latin typeface="Arial"/>
                <a:ea typeface="Arial"/>
                <a:cs typeface="Arial"/>
              </a:defRPr>
            </a:defPPr>
            <a:lvl1pPr>
              <a:defRPr sz="2100" b="1">
                <a:solidFill>
                  <a:srgbClr val="9A315F"/>
                </a:solidFill>
                <a:latin typeface="Arial"/>
                <a:ea typeface="Arial"/>
                <a:cs typeface="Arial"/>
              </a:defRPr>
            </a:lvl1pPr>
            <a:lvl2pPr>
              <a:defRPr sz="2100" b="1">
                <a:solidFill>
                  <a:srgbClr val="9A315F"/>
                </a:solidFill>
                <a:latin typeface="Arial"/>
                <a:ea typeface="Arial"/>
                <a:cs typeface="Arial"/>
              </a:defRPr>
            </a:lvl2pPr>
            <a:lvl3pPr>
              <a:defRPr sz="2100" b="1">
                <a:solidFill>
                  <a:srgbClr val="9A315F"/>
                </a:solidFill>
                <a:latin typeface="Arial"/>
                <a:ea typeface="Arial"/>
                <a:cs typeface="Arial"/>
              </a:defRPr>
            </a:lvl3pPr>
            <a:lvl4pPr>
              <a:defRPr sz="2100" b="1">
                <a:solidFill>
                  <a:srgbClr val="9A315F"/>
                </a:solidFill>
                <a:latin typeface="Arial"/>
                <a:ea typeface="Arial"/>
                <a:cs typeface="Arial"/>
              </a:defRPr>
            </a:lvl4pPr>
            <a:lvl5pPr>
              <a:defRPr sz="2100" b="1">
                <a:solidFill>
                  <a:srgbClr val="9A315F"/>
                </a:solidFill>
                <a:latin typeface="Arial"/>
                <a:ea typeface="Arial"/>
                <a:cs typeface="Arial"/>
              </a:defRPr>
            </a:lvl5pPr>
            <a:lvl6pPr>
              <a:defRPr sz="2100" b="1">
                <a:solidFill>
                  <a:srgbClr val="9A315F"/>
                </a:solidFill>
                <a:latin typeface="Arial"/>
                <a:ea typeface="Arial"/>
                <a:cs typeface="Arial"/>
              </a:defRPr>
            </a:lvl6pPr>
            <a:lvl7pPr>
              <a:defRPr sz="2100" b="1">
                <a:solidFill>
                  <a:srgbClr val="9A315F"/>
                </a:solidFill>
                <a:latin typeface="Arial"/>
                <a:ea typeface="Arial"/>
                <a:cs typeface="Arial"/>
              </a:defRPr>
            </a:lvl7pPr>
            <a:lvl8pPr>
              <a:defRPr sz="2100" b="1">
                <a:solidFill>
                  <a:srgbClr val="9A315F"/>
                </a:solidFill>
                <a:latin typeface="Arial"/>
                <a:ea typeface="Arial"/>
                <a:cs typeface="Arial"/>
              </a:defRPr>
            </a:lvl8pPr>
            <a:lvl9pPr>
              <a:defRPr sz="2100" b="1">
                <a:solidFill>
                  <a:srgbClr val="9A315F"/>
                </a:solidFill>
                <a:latin typeface="Arial"/>
                <a:ea typeface="Arial"/>
                <a:cs typeface="Arial"/>
              </a:defRPr>
            </a:lvl9pPr>
          </a:lstStyle>
          <a:p xmlns:a="http://schemas.openxmlformats.org/drawingml/2006/main">
            <a:pPr>
              <a:defRPr sz="2100" b="1">
                <a:solidFill>
                  <a:srgbClr val="9A315F"/>
                </a:solidFill>
                <a:latin typeface="Arial"/>
                <a:ea typeface="Arial"/>
                <a:cs typeface="Arial"/>
              </a:defRPr>
            </a:pPr>
            <a:r>
              <a:rPr sz="2100" b="1">
                <a:solidFill>
                  <a:srgbClr val="9A315F"/>
                </a:solidFill>
                <a:latin typeface="Arial"/>
                <a:ea typeface="Arial"/>
                <a:cs typeface="Arial"/>
              </a:rPr>
              <a:t>Programación diaria y coordinación: EventBridge Scheduler y Step Functions</a:t>
            </a:r>
          </a:p>
        </p:txBody>
      </p:sp>
      <p:sp>
        <p:nvSpPr>
          <p:cNvPr id="21" name="">
            <a:extLst xmlns:a="http://schemas.openxmlformats.org/drawingml/2006/main">
              <a:ext uri="{FF2B5EF4-FFF2-40B4-BE49-F238E27FC236}">
                <a16:creationId xmlns:a16="http://schemas.microsoft.com/office/drawing/2014/main" id="{E9BA788F-CD50-4132-8A88-1925D198FF07}"/>
              </a:ext>
            </a:extLst>
          </p:cNvPr>
          <p:cNvSpPr>
            <a:spLocks xmlns:a="http://schemas.openxmlformats.org/drawingml/2006/main" noGrp="1"/>
          </p:cNvSpPr>
          <p:nvPr/>
        </p:nvSpPr>
        <p:spPr>
          <a:xfrm xmlns:a="http://schemas.openxmlformats.org/drawingml/2006/main">
            <a:off x="685800" y="53911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2C40"/>
                </a:solidFill>
                <a:latin typeface="Arial"/>
                <a:ea typeface="Arial"/>
                <a:cs typeface="Arial"/>
              </a:defRPr>
            </a:defPPr>
            <a:lvl1pPr>
              <a:defRPr sz="2100" b="0">
                <a:solidFill>
                  <a:srgbClr val="152C40"/>
                </a:solidFill>
                <a:latin typeface="Arial"/>
                <a:ea typeface="Arial"/>
                <a:cs typeface="Arial"/>
              </a:defRPr>
            </a:lvl1pPr>
            <a:lvl2pPr>
              <a:defRPr sz="2100" b="0">
                <a:solidFill>
                  <a:srgbClr val="152C40"/>
                </a:solidFill>
                <a:latin typeface="Arial"/>
                <a:ea typeface="Arial"/>
                <a:cs typeface="Arial"/>
              </a:defRPr>
            </a:lvl2pPr>
            <a:lvl3pPr>
              <a:defRPr sz="2100" b="0">
                <a:solidFill>
                  <a:srgbClr val="152C40"/>
                </a:solidFill>
                <a:latin typeface="Arial"/>
                <a:ea typeface="Arial"/>
                <a:cs typeface="Arial"/>
              </a:defRPr>
            </a:lvl3pPr>
            <a:lvl4pPr>
              <a:defRPr sz="2100" b="0">
                <a:solidFill>
                  <a:srgbClr val="152C40"/>
                </a:solidFill>
                <a:latin typeface="Arial"/>
                <a:ea typeface="Arial"/>
                <a:cs typeface="Arial"/>
              </a:defRPr>
            </a:lvl4pPr>
            <a:lvl5pPr>
              <a:defRPr sz="2100" b="0">
                <a:solidFill>
                  <a:srgbClr val="152C40"/>
                </a:solidFill>
                <a:latin typeface="Arial"/>
                <a:ea typeface="Arial"/>
                <a:cs typeface="Arial"/>
              </a:defRPr>
            </a:lvl5pPr>
            <a:lvl6pPr>
              <a:defRPr sz="2100" b="0">
                <a:solidFill>
                  <a:srgbClr val="152C40"/>
                </a:solidFill>
                <a:latin typeface="Arial"/>
                <a:ea typeface="Arial"/>
                <a:cs typeface="Arial"/>
              </a:defRPr>
            </a:lvl6pPr>
            <a:lvl7pPr>
              <a:defRPr sz="2100" b="0">
                <a:solidFill>
                  <a:srgbClr val="152C40"/>
                </a:solidFill>
                <a:latin typeface="Arial"/>
                <a:ea typeface="Arial"/>
                <a:cs typeface="Arial"/>
              </a:defRPr>
            </a:lvl7pPr>
            <a:lvl8pPr>
              <a:defRPr sz="2100" b="0">
                <a:solidFill>
                  <a:srgbClr val="152C40"/>
                </a:solidFill>
                <a:latin typeface="Arial"/>
                <a:ea typeface="Arial"/>
                <a:cs typeface="Arial"/>
              </a:defRPr>
            </a:lvl8pPr>
            <a:lvl9pPr>
              <a:defRPr sz="2100" b="0">
                <a:solidFill>
                  <a:srgbClr val="152C40"/>
                </a:solidFill>
                <a:latin typeface="Arial"/>
                <a:ea typeface="Arial"/>
                <a:cs typeface="Arial"/>
              </a:defRPr>
            </a:lvl9pPr>
          </a:lstStyle>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Actualización mensual del modelo, sujeta a validación y aprobación.</a:t>
            </a:r>
          </a:p>
        </p:txBody>
      </p:sp>
      <p:sp>
        <p:nvSpPr>
          <p:cNvPr id="22" name="">
            <a:extLst xmlns:a="http://schemas.openxmlformats.org/drawingml/2006/main">
              <a:ext uri="{FF2B5EF4-FFF2-40B4-BE49-F238E27FC236}">
                <a16:creationId xmlns:a16="http://schemas.microsoft.com/office/drawing/2014/main" id="{57411425-C5BE-4655-AE47-7372CE20CC22}"/>
              </a:ext>
            </a:extLst>
          </p:cNvPr>
          <p:cNvSpPr>
            <a:spLocks xmlns:a="http://schemas.openxmlformats.org/drawingml/2006/main" noGrp="1"/>
          </p:cNvSpPr>
          <p:nvPr/>
        </p:nvSpPr>
        <p:spPr>
          <a:xfrm xmlns:a="http://schemas.openxmlformats.org/drawingml/2006/main">
            <a:off x="685800" y="611505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5"/>
                </a:solidFill>
                <a:latin typeface="Arial"/>
                <a:ea typeface="Arial"/>
                <a:cs typeface="Arial"/>
              </a:defRPr>
            </a:defPPr>
            <a:lvl1pPr>
              <a:defRPr sz="1500" b="0">
                <a:solidFill>
                  <a:srgbClr val="526775"/>
                </a:solidFill>
                <a:latin typeface="Arial"/>
                <a:ea typeface="Arial"/>
                <a:cs typeface="Arial"/>
              </a:defRPr>
            </a:lvl1pPr>
            <a:lvl2pPr>
              <a:defRPr sz="1500" b="0">
                <a:solidFill>
                  <a:srgbClr val="526775"/>
                </a:solidFill>
                <a:latin typeface="Arial"/>
                <a:ea typeface="Arial"/>
                <a:cs typeface="Arial"/>
              </a:defRPr>
            </a:lvl2pPr>
            <a:lvl3pPr>
              <a:defRPr sz="1500" b="0">
                <a:solidFill>
                  <a:srgbClr val="526775"/>
                </a:solidFill>
                <a:latin typeface="Arial"/>
                <a:ea typeface="Arial"/>
                <a:cs typeface="Arial"/>
              </a:defRPr>
            </a:lvl3pPr>
            <a:lvl4pPr>
              <a:defRPr sz="1500" b="0">
                <a:solidFill>
                  <a:srgbClr val="526775"/>
                </a:solidFill>
                <a:latin typeface="Arial"/>
                <a:ea typeface="Arial"/>
                <a:cs typeface="Arial"/>
              </a:defRPr>
            </a:lvl4pPr>
            <a:lvl5pPr>
              <a:defRPr sz="1500" b="0">
                <a:solidFill>
                  <a:srgbClr val="526775"/>
                </a:solidFill>
                <a:latin typeface="Arial"/>
                <a:ea typeface="Arial"/>
                <a:cs typeface="Arial"/>
              </a:defRPr>
            </a:lvl5pPr>
            <a:lvl6pPr>
              <a:defRPr sz="1500" b="0">
                <a:solidFill>
                  <a:srgbClr val="526775"/>
                </a:solidFill>
                <a:latin typeface="Arial"/>
                <a:ea typeface="Arial"/>
                <a:cs typeface="Arial"/>
              </a:defRPr>
            </a:lvl6pPr>
            <a:lvl7pPr>
              <a:defRPr sz="1500" b="0">
                <a:solidFill>
                  <a:srgbClr val="526775"/>
                </a:solidFill>
                <a:latin typeface="Arial"/>
                <a:ea typeface="Arial"/>
                <a:cs typeface="Arial"/>
              </a:defRPr>
            </a:lvl7pPr>
            <a:lvl8pPr>
              <a:defRPr sz="1500" b="0">
                <a:solidFill>
                  <a:srgbClr val="526775"/>
                </a:solidFill>
                <a:latin typeface="Arial"/>
                <a:ea typeface="Arial"/>
                <a:cs typeface="Arial"/>
              </a:defRPr>
            </a:lvl8pPr>
            <a:lvl9pPr>
              <a:defRPr sz="1500" b="0">
                <a:solidFill>
                  <a:srgbClr val="526775"/>
                </a:solidFill>
                <a:latin typeface="Arial"/>
                <a:ea typeface="Arial"/>
                <a:cs typeface="Arial"/>
              </a:defRPr>
            </a:lvl9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Diseño propuesto. La solución no requiere desplegar recursos para resolver este caso.</a:t>
            </a:r>
          </a:p>
        </p:txBody>
      </p:sp>
    </p:spTree>
    <p:extLst>
      <p:ext uri="{BB962C8B-B14F-4D97-AF65-F5344CB8AC3E}">
        <p14:creationId xmlns:p14="http://schemas.microsoft.com/office/powerpoint/2010/main" val="48952041"/>
      </p:ext>
    </p:extLst>
  </p:cSld>
</p:sld>
</file>

<file path=ppt/slides/slide9.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5898E3-7AF0-41F6-83FE-3A90B3EF1F40}"/>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Controlar el proceso protege la decisión de negocio</a:t>
            </a:r>
          </a:p>
        </p:txBody>
      </p:sp>
      <p:sp>
        <p:nvSpPr>
          <p:cNvPr id="2" name="">
            <a:extLst xmlns:a="http://schemas.openxmlformats.org/drawingml/2006/main">
              <a:ext uri="{FF2B5EF4-FFF2-40B4-BE49-F238E27FC236}">
                <a16:creationId xmlns:a16="http://schemas.microsoft.com/office/drawing/2014/main" id="{2C840295-2E54-413D-9ECB-552CDE0F7B97}"/>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La ejecución se puede repetir, auditar y detener si los datos o el modelo dejan de ser confiables.</a:t>
            </a:r>
          </a:p>
        </p:txBody>
      </p:sp>
      <p:sp>
        <p:nvSpPr>
          <p:cNvPr id="3" name="">
            <a:extLst xmlns:a="http://schemas.openxmlformats.org/drawingml/2006/main">
              <a:ext uri="{FF2B5EF4-FFF2-40B4-BE49-F238E27FC236}">
                <a16:creationId xmlns:a16="http://schemas.microsoft.com/office/drawing/2014/main" id="{C2FE8787-13C3-433C-BFDE-FF26A67C8AD2}"/>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D22B31CA-B8E2-49E6-9D8E-699560F0A6FC}"/>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E9083361-8782-485E-B8F0-60442C239912}"/>
              </a:ext>
            </a:extLst>
          </p:cNvPr>
          <p:cNvGraphicFramePr/>
          <p:nvPr/>
        </p:nvGraphicFramePr>
        <p:xfrm>
          <a:off xmlns:a="http://schemas.openxmlformats.org/drawingml/2006/main" x="685800" y="2676525"/>
          <a:ext xmlns:a="http://schemas.openxmlformats.org/drawingml/2006/main" cx="10820400" cy="2419350"/>
        </p:xfrm>
        <a:graphic xmlns:a="http://schemas.openxmlformats.org/drawingml/2006/main">
          <a:graphicData uri="http://schemas.openxmlformats.org/drawingml/2006/table">
            <a:tbl>
              <a:tblPr/>
              <a:tblGrid>
                <a:gridCol w="2571750"/>
                <a:gridCol w="4667250"/>
                <a:gridCol w="3581400"/>
              </a:tblGrid>
              <a:tr h="604838">
                <a:tc>
                  <a:txBody>
                    <a:bodyPr/>
                    <a:lstStyle/>
                    <a:p>
                      <a:r>
                        <a:rPr sz="1800" b="1">
                          <a:solidFill>
                            <a:srgbClr val="FFFFFF"/>
                          </a:solidFill>
                          <a:latin typeface="Arial"/>
                          <a:ea typeface="Arial"/>
                          <a:cs typeface="Arial"/>
                        </a:rPr>
                        <a:t>Cuándo</a:t>
                      </a:r>
                    </a:p>
                  </a:txBody>
                  <a:tcPr marL="91440" marR="91440" marT="45720" marB="45720">
                    <a:solidFill>
                      <a:srgbClr val="152C40"/>
                    </a:solidFill>
                  </a:tcPr>
                </a:tc>
                <a:tc>
                  <a:txBody>
                    <a:bodyPr/>
                    <a:lstStyle/>
                    <a:p>
                      <a:r>
                        <a:rPr sz="1800" b="1">
                          <a:solidFill>
                            <a:srgbClr val="FFFFFF"/>
                          </a:solidFill>
                          <a:latin typeface="Arial"/>
                          <a:ea typeface="Arial"/>
                          <a:cs typeface="Arial"/>
                        </a:rPr>
                        <a:t>Control</a:t>
                      </a:r>
                    </a:p>
                  </a:txBody>
                  <a:tcPr marL="91440" marR="91440" marT="45720" marB="45720">
                    <a:solidFill>
                      <a:srgbClr val="152C40"/>
                    </a:solidFill>
                  </a:tcPr>
                </a:tc>
                <a:tc>
                  <a:txBody>
                    <a:bodyPr/>
                    <a:lstStyle/>
                    <a:p>
                      <a:r>
                        <a:rPr sz="1800" b="1">
                          <a:solidFill>
                            <a:srgbClr val="FFFFFF"/>
                          </a:solidFill>
                          <a:latin typeface="Arial"/>
                          <a:ea typeface="Arial"/>
                          <a:cs typeface="Arial"/>
                        </a:rPr>
                        <a:t>Respuesta</a:t>
                      </a:r>
                    </a:p>
                  </a:txBody>
                  <a:tcPr marL="91440" marR="91440" marT="45720" marB="45720">
                    <a:solidFill>
                      <a:srgbClr val="152C40"/>
                    </a:solidFill>
                  </a:tcPr>
                </a:tc>
              </a:tr>
              <a:tr h="604838">
                <a:tc>
                  <a:txBody>
                    <a:bodyPr/>
                    <a:lstStyle/>
                    <a:p>
                      <a:r>
                        <a:rPr sz="1800" b="0">
                          <a:solidFill>
                            <a:srgbClr val="152C40"/>
                          </a:solidFill>
                          <a:latin typeface="Arial"/>
                          <a:ea typeface="Arial"/>
                          <a:cs typeface="Arial"/>
                        </a:rPr>
                        <a:t>En cada ejecución</a:t>
                      </a:r>
                    </a:p>
                  </a:txBody>
                  <a:tcPr marL="91440" marR="91440" marT="45720" marB="45720">
                    <a:solidFill>
                      <a:srgbClr val="F0ECEF"/>
                    </a:solidFill>
                  </a:tcPr>
                </a:tc>
                <a:tc>
                  <a:txBody>
                    <a:bodyPr/>
                    <a:lstStyle/>
                    <a:p>
                      <a:r>
                        <a:rPr sz="1800" b="0">
                          <a:solidFill>
                            <a:srgbClr val="152C40"/>
                          </a:solidFill>
                          <a:latin typeface="Arial"/>
                          <a:ea typeface="Arial"/>
                          <a:cs typeface="Arial"/>
                        </a:rPr>
                        <a:t>Datos completos y clientes sin duplicar</a:t>
                      </a:r>
                    </a:p>
                  </a:txBody>
                  <a:tcPr marL="91440" marR="91440" marT="45720" marB="45720">
                    <a:solidFill>
                      <a:srgbClr val="F0ECEF"/>
                    </a:solidFill>
                  </a:tcPr>
                </a:tc>
                <a:tc>
                  <a:txBody>
                    <a:bodyPr/>
                    <a:lstStyle/>
                    <a:p>
                      <a:r>
                        <a:rPr sz="1800" b="0">
                          <a:solidFill>
                            <a:srgbClr val="152C40"/>
                          </a:solidFill>
                          <a:latin typeface="Arial"/>
                          <a:ea typeface="Arial"/>
                          <a:cs typeface="Arial"/>
                        </a:rPr>
                        <a:t>Detener la entrega si falla</a:t>
                      </a:r>
                    </a:p>
                  </a:txBody>
                  <a:tcPr marL="91440" marR="91440" marT="45720" marB="45720">
                    <a:solidFill>
                      <a:srgbClr val="F0ECEF"/>
                    </a:solidFill>
                  </a:tcPr>
                </a:tc>
              </a:tr>
              <a:tr h="604838">
                <a:tc>
                  <a:txBody>
                    <a:bodyPr/>
                    <a:lstStyle/>
                    <a:p>
                      <a:r>
                        <a:rPr sz="1800" b="0">
                          <a:solidFill>
                            <a:srgbClr val="152C40"/>
                          </a:solidFill>
                          <a:latin typeface="Arial"/>
                          <a:ea typeface="Arial"/>
                          <a:cs typeface="Arial"/>
                        </a:rPr>
                        <a:t>Durante la operación</a:t>
                      </a:r>
                    </a:p>
                  </a:txBody>
                  <a:tcPr marL="91440" marR="91440" marT="45720" marB="45720">
                    <a:solidFill>
                      <a:srgbClr val="FFFFFF"/>
                    </a:solidFill>
                  </a:tcPr>
                </a:tc>
                <a:tc>
                  <a:txBody>
                    <a:bodyPr/>
                    <a:lstStyle/>
                    <a:p>
                      <a:r>
                        <a:rPr sz="1800" b="0">
                          <a:solidFill>
                            <a:srgbClr val="152C40"/>
                          </a:solidFill>
                          <a:latin typeface="Arial"/>
                          <a:ea typeface="Arial"/>
                          <a:cs typeface="Arial"/>
                        </a:rPr>
                        <a:t>Cambios en datos y probabilidades</a:t>
                      </a:r>
                    </a:p>
                  </a:txBody>
                  <a:tcPr marL="91440" marR="91440" marT="45720" marB="45720">
                    <a:solidFill>
                      <a:srgbClr val="FFFFFF"/>
                    </a:solidFill>
                  </a:tcPr>
                </a:tc>
                <a:tc>
                  <a:txBody>
                    <a:bodyPr/>
                    <a:lstStyle/>
                    <a:p>
                      <a:r>
                        <a:rPr sz="1800" b="0">
                          <a:solidFill>
                            <a:srgbClr val="152C40"/>
                          </a:solidFill>
                          <a:latin typeface="Arial"/>
                          <a:ea typeface="Arial"/>
                          <a:cs typeface="Arial"/>
                        </a:rPr>
                        <a:t>Alertar e investigar</a:t>
                      </a:r>
                    </a:p>
                  </a:txBody>
                  <a:tcPr marL="91440" marR="91440" marT="45720" marB="45720">
                    <a:solidFill>
                      <a:srgbClr val="FFFFFF"/>
                    </a:solidFill>
                  </a:tcPr>
                </a:tc>
              </a:tr>
              <a:tr h="604838">
                <a:tc>
                  <a:txBody>
                    <a:bodyPr/>
                    <a:lstStyle/>
                    <a:p>
                      <a:r>
                        <a:rPr sz="1800" b="0">
                          <a:solidFill>
                            <a:srgbClr val="152C40"/>
                          </a:solidFill>
                          <a:latin typeface="Arial"/>
                          <a:ea typeface="Arial"/>
                          <a:cs typeface="Arial"/>
                        </a:rPr>
                        <a:t>Al completar 60 días</a:t>
                      </a:r>
                    </a:p>
                  </a:txBody>
                  <a:tcPr marL="91440" marR="91440" marT="45720" marB="45720">
                    <a:solidFill>
                      <a:srgbClr val="F0ECEF"/>
                    </a:solidFill>
                  </a:tcPr>
                </a:tc>
                <a:tc>
                  <a:txBody>
                    <a:bodyPr/>
                    <a:lstStyle/>
                    <a:p>
                      <a:r>
                        <a:rPr sz="1800" b="0">
                          <a:solidFill>
                            <a:srgbClr val="152C40"/>
                          </a:solidFill>
                          <a:latin typeface="Arial"/>
                          <a:ea typeface="Arial"/>
                          <a:cs typeface="Arial"/>
                        </a:rPr>
                        <a:t>Recompra real y utilidad del modelo</a:t>
                      </a:r>
                    </a:p>
                  </a:txBody>
                  <a:tcPr marL="91440" marR="91440" marT="45720" marB="45720">
                    <a:solidFill>
                      <a:srgbClr val="F0ECEF"/>
                    </a:solidFill>
                  </a:tcPr>
                </a:tc>
                <a:tc>
                  <a:txBody>
                    <a:bodyPr/>
                    <a:lstStyle/>
                    <a:p>
                      <a:r>
                        <a:rPr sz="1800" b="0">
                          <a:solidFill>
                            <a:srgbClr val="152C40"/>
                          </a:solidFill>
                          <a:latin typeface="Arial"/>
                          <a:ea typeface="Arial"/>
                          <a:cs typeface="Arial"/>
                        </a:rPr>
                        <a:t>Mantener, corregir o retirar</a:t>
                      </a:r>
                    </a:p>
                  </a:txBody>
                  <a:tcPr marL="91440" marR="91440" marT="45720" marB="45720">
                    <a:solidFill>
                      <a:srgbClr val="F0ECEF"/>
                    </a:solidFill>
                  </a:tcPr>
                </a:tc>
              </a:tr>
            </a:tbl>
          </a:graphicData>
        </a:graphic>
      </p:graphicFrame>
      <p:sp>
        <p:nvSpPr>
          <p:cNvPr id="6" name="">
            <a:extLst xmlns:a="http://schemas.openxmlformats.org/drawingml/2006/main">
              <a:ext uri="{FF2B5EF4-FFF2-40B4-BE49-F238E27FC236}">
                <a16:creationId xmlns:a16="http://schemas.microsoft.com/office/drawing/2014/main" id="{3D8231C6-E3CC-4911-98EE-D5FB8B67FDC0}"/>
              </a:ext>
            </a:extLst>
          </p:cNvPr>
          <p:cNvSpPr>
            <a:spLocks xmlns:a="http://schemas.openxmlformats.org/drawingml/2006/main" noGrp="1"/>
          </p:cNvSpPr>
          <p:nvPr/>
        </p:nvSpPr>
        <p:spPr>
          <a:xfrm xmlns:a="http://schemas.openxmlformats.org/drawingml/2006/main">
            <a:off x="685800" y="5505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9A315F"/>
                </a:solidFill>
                <a:latin typeface="Arial"/>
                <a:ea typeface="Arial"/>
                <a:cs typeface="Arial"/>
              </a:defRPr>
            </a:defPPr>
            <a:lvl1pPr>
              <a:defRPr sz="2175" b="1">
                <a:solidFill>
                  <a:srgbClr val="9A315F"/>
                </a:solidFill>
                <a:latin typeface="Arial"/>
                <a:ea typeface="Arial"/>
                <a:cs typeface="Arial"/>
              </a:defRPr>
            </a:lvl1pPr>
            <a:lvl2pPr>
              <a:defRPr sz="2175" b="1">
                <a:solidFill>
                  <a:srgbClr val="9A315F"/>
                </a:solidFill>
                <a:latin typeface="Arial"/>
                <a:ea typeface="Arial"/>
                <a:cs typeface="Arial"/>
              </a:defRPr>
            </a:lvl2pPr>
            <a:lvl3pPr>
              <a:defRPr sz="2175" b="1">
                <a:solidFill>
                  <a:srgbClr val="9A315F"/>
                </a:solidFill>
                <a:latin typeface="Arial"/>
                <a:ea typeface="Arial"/>
                <a:cs typeface="Arial"/>
              </a:defRPr>
            </a:lvl3pPr>
            <a:lvl4pPr>
              <a:defRPr sz="2175" b="1">
                <a:solidFill>
                  <a:srgbClr val="9A315F"/>
                </a:solidFill>
                <a:latin typeface="Arial"/>
                <a:ea typeface="Arial"/>
                <a:cs typeface="Arial"/>
              </a:defRPr>
            </a:lvl4pPr>
            <a:lvl5pPr>
              <a:defRPr sz="2175" b="1">
                <a:solidFill>
                  <a:srgbClr val="9A315F"/>
                </a:solidFill>
                <a:latin typeface="Arial"/>
                <a:ea typeface="Arial"/>
                <a:cs typeface="Arial"/>
              </a:defRPr>
            </a:lvl5pPr>
            <a:lvl6pPr>
              <a:defRPr sz="2175" b="1">
                <a:solidFill>
                  <a:srgbClr val="9A315F"/>
                </a:solidFill>
                <a:latin typeface="Arial"/>
                <a:ea typeface="Arial"/>
                <a:cs typeface="Arial"/>
              </a:defRPr>
            </a:lvl6pPr>
            <a:lvl7pPr>
              <a:defRPr sz="2175" b="1">
                <a:solidFill>
                  <a:srgbClr val="9A315F"/>
                </a:solidFill>
                <a:latin typeface="Arial"/>
                <a:ea typeface="Arial"/>
                <a:cs typeface="Arial"/>
              </a:defRPr>
            </a:lvl7pPr>
            <a:lvl8pPr>
              <a:defRPr sz="2175" b="1">
                <a:solidFill>
                  <a:srgbClr val="9A315F"/>
                </a:solidFill>
                <a:latin typeface="Arial"/>
                <a:ea typeface="Arial"/>
                <a:cs typeface="Arial"/>
              </a:defRPr>
            </a:lvl8pPr>
            <a:lvl9pPr>
              <a:defRPr sz="2175" b="1">
                <a:solidFill>
                  <a:srgbClr val="9A315F"/>
                </a:solidFill>
                <a:latin typeface="Arial"/>
                <a:ea typeface="Arial"/>
                <a:cs typeface="Arial"/>
              </a:defRPr>
            </a:lvl9pPr>
          </a:lstStyle>
          <a:p xmlns:a="http://schemas.openxmlformats.org/drawingml/2006/main">
            <a:pPr>
              <a:defRPr sz="2175" b="1">
                <a:solidFill>
                  <a:srgbClr val="9A315F"/>
                </a:solidFill>
                <a:latin typeface="Arial"/>
                <a:ea typeface="Arial"/>
                <a:cs typeface="Arial"/>
              </a:defRPr>
            </a:pPr>
            <a:r>
              <a:rPr sz="2175" b="1">
                <a:solidFill>
                  <a:srgbClr val="9A315F"/>
                </a:solidFill>
                <a:latin typeface="Arial"/>
                <a:ea typeface="Arial"/>
                <a:cs typeface="Arial"/>
              </a:rPr>
              <a:t>Código SQL y Python en GitHub, con versiones y resultados trazables</a:t>
            </a:r>
          </a:p>
        </p:txBody>
      </p:sp>
      <p:sp>
        <p:nvSpPr>
          <p:cNvPr id="7" name="">
            <a:extLst xmlns:a="http://schemas.openxmlformats.org/drawingml/2006/main">
              <a:ext uri="{FF2B5EF4-FFF2-40B4-BE49-F238E27FC236}">
                <a16:creationId xmlns:a16="http://schemas.microsoft.com/office/drawing/2014/main" id="{7A64855B-02A7-472B-8C63-570FB8A05FA5}"/>
              </a:ext>
            </a:extLst>
          </p:cNvPr>
          <p:cNvSpPr>
            <a:spLocks xmlns:a="http://schemas.openxmlformats.org/drawingml/2006/main" noGrp="1"/>
          </p:cNvSpPr>
          <p:nvPr/>
        </p:nvSpPr>
        <p:spPr>
          <a:xfrm xmlns:a="http://schemas.openxmlformats.org/drawingml/2006/main">
            <a:off x="685800" y="611505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775"/>
                </a:solidFill>
                <a:latin typeface="Arial"/>
                <a:ea typeface="Arial"/>
                <a:cs typeface="Arial"/>
              </a:defRPr>
            </a:defPPr>
            <a:lvl1pPr>
              <a:defRPr sz="1425" b="0">
                <a:solidFill>
                  <a:srgbClr val="526775"/>
                </a:solidFill>
                <a:latin typeface="Arial"/>
                <a:ea typeface="Arial"/>
                <a:cs typeface="Arial"/>
              </a:defRPr>
            </a:lvl1pPr>
            <a:lvl2pPr>
              <a:defRPr sz="1425" b="0">
                <a:solidFill>
                  <a:srgbClr val="526775"/>
                </a:solidFill>
                <a:latin typeface="Arial"/>
                <a:ea typeface="Arial"/>
                <a:cs typeface="Arial"/>
              </a:defRPr>
            </a:lvl2pPr>
            <a:lvl3pPr>
              <a:defRPr sz="1425" b="0">
                <a:solidFill>
                  <a:srgbClr val="526775"/>
                </a:solidFill>
                <a:latin typeface="Arial"/>
                <a:ea typeface="Arial"/>
                <a:cs typeface="Arial"/>
              </a:defRPr>
            </a:lvl3pPr>
            <a:lvl4pPr>
              <a:defRPr sz="1425" b="0">
                <a:solidFill>
                  <a:srgbClr val="526775"/>
                </a:solidFill>
                <a:latin typeface="Arial"/>
                <a:ea typeface="Arial"/>
                <a:cs typeface="Arial"/>
              </a:defRPr>
            </a:lvl4pPr>
            <a:lvl5pPr>
              <a:defRPr sz="1425" b="0">
                <a:solidFill>
                  <a:srgbClr val="526775"/>
                </a:solidFill>
                <a:latin typeface="Arial"/>
                <a:ea typeface="Arial"/>
                <a:cs typeface="Arial"/>
              </a:defRPr>
            </a:lvl5pPr>
            <a:lvl6pPr>
              <a:defRPr sz="1425" b="0">
                <a:solidFill>
                  <a:srgbClr val="526775"/>
                </a:solidFill>
                <a:latin typeface="Arial"/>
                <a:ea typeface="Arial"/>
                <a:cs typeface="Arial"/>
              </a:defRPr>
            </a:lvl6pPr>
            <a:lvl7pPr>
              <a:defRPr sz="1425" b="0">
                <a:solidFill>
                  <a:srgbClr val="526775"/>
                </a:solidFill>
                <a:latin typeface="Arial"/>
                <a:ea typeface="Arial"/>
                <a:cs typeface="Arial"/>
              </a:defRPr>
            </a:lvl7pPr>
            <a:lvl8pPr>
              <a:defRPr sz="1425" b="0">
                <a:solidFill>
                  <a:srgbClr val="526775"/>
                </a:solidFill>
                <a:latin typeface="Arial"/>
                <a:ea typeface="Arial"/>
                <a:cs typeface="Arial"/>
              </a:defRPr>
            </a:lvl8pPr>
            <a:lvl9pPr>
              <a:defRPr sz="1425" b="0">
                <a:solidFill>
                  <a:srgbClr val="526775"/>
                </a:solidFill>
                <a:latin typeface="Arial"/>
                <a:ea typeface="Arial"/>
                <a:cs typeface="Arial"/>
              </a:defRPr>
            </a:lvl9pPr>
          </a:lstStyle>
          <a:p xmlns:a="http://schemas.openxmlformats.org/drawingml/2006/main">
            <a:pPr>
              <a:defRPr sz="1425" b="0">
                <a:solidFill>
                  <a:srgbClr val="526775"/>
                </a:solidFill>
                <a:latin typeface="Arial"/>
                <a:ea typeface="Arial"/>
                <a:cs typeface="Arial"/>
              </a:defRPr>
            </a:pPr>
            <a:r>
              <a:rPr sz="1425" b="0">
                <a:solidFill>
                  <a:srgbClr val="526775"/>
                </a:solidFill>
                <a:latin typeface="Arial"/>
                <a:ea typeface="Arial"/>
                <a:cs typeface="Arial"/>
              </a:rPr>
              <a:t>Snowflake opcional: carga desde S3, transformación SQL y actualización de probabilidades sin duplicación.</a:t>
            </a:r>
          </a:p>
        </p:txBody>
      </p:sp>
    </p:spTree>
    <p:extLst>
      <p:ext uri="{BB962C8B-B14F-4D97-AF65-F5344CB8AC3E}">
        <p14:creationId xmlns:p14="http://schemas.microsoft.com/office/powerpoint/2010/main" val="1805681456"/>
      </p:ext>
    </p:extLst>
  </p:cSld>
</p:sld>
</file>

<file path=ppt/slides/slide10.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360263F-BEE8-476F-ABC8-157EB658DCCA}"/>
              </a:ext>
            </a:extLst>
          </p:cNvPr>
          <p:cNvSpPr>
            <a:spLocks xmlns:a="http://schemas.openxmlformats.org/drawingml/2006/main" noGrp="1"/>
          </p:cNvSpPr>
          <p:nvPr/>
        </p:nvSpPr>
        <p:spPr>
          <a:xfrm xmlns:a="http://schemas.openxmlformats.org/drawingml/2006/main">
            <a:off x="647700" y="4762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C40"/>
                </a:solidFill>
                <a:latin typeface="Arial"/>
                <a:ea typeface="Arial"/>
                <a:cs typeface="Arial"/>
              </a:defRPr>
            </a:defPPr>
            <a:lvl1pPr>
              <a:defRPr sz="3225" b="1">
                <a:solidFill>
                  <a:srgbClr val="152C40"/>
                </a:solidFill>
                <a:latin typeface="Arial"/>
                <a:ea typeface="Arial"/>
                <a:cs typeface="Arial"/>
              </a:defRPr>
            </a:lvl1pPr>
            <a:lvl2pPr>
              <a:defRPr sz="3225" b="1">
                <a:solidFill>
                  <a:srgbClr val="152C40"/>
                </a:solidFill>
                <a:latin typeface="Arial"/>
                <a:ea typeface="Arial"/>
                <a:cs typeface="Arial"/>
              </a:defRPr>
            </a:lvl2pPr>
            <a:lvl3pPr>
              <a:defRPr sz="3225" b="1">
                <a:solidFill>
                  <a:srgbClr val="152C40"/>
                </a:solidFill>
                <a:latin typeface="Arial"/>
                <a:ea typeface="Arial"/>
                <a:cs typeface="Arial"/>
              </a:defRPr>
            </a:lvl3pPr>
            <a:lvl4pPr>
              <a:defRPr sz="3225" b="1">
                <a:solidFill>
                  <a:srgbClr val="152C40"/>
                </a:solidFill>
                <a:latin typeface="Arial"/>
                <a:ea typeface="Arial"/>
                <a:cs typeface="Arial"/>
              </a:defRPr>
            </a:lvl4pPr>
            <a:lvl5pPr>
              <a:defRPr sz="3225" b="1">
                <a:solidFill>
                  <a:srgbClr val="152C40"/>
                </a:solidFill>
                <a:latin typeface="Arial"/>
                <a:ea typeface="Arial"/>
                <a:cs typeface="Arial"/>
              </a:defRPr>
            </a:lvl5pPr>
            <a:lvl6pPr>
              <a:defRPr sz="3225" b="1">
                <a:solidFill>
                  <a:srgbClr val="152C40"/>
                </a:solidFill>
                <a:latin typeface="Arial"/>
                <a:ea typeface="Arial"/>
                <a:cs typeface="Arial"/>
              </a:defRPr>
            </a:lvl6pPr>
            <a:lvl7pPr>
              <a:defRPr sz="3225" b="1">
                <a:solidFill>
                  <a:srgbClr val="152C40"/>
                </a:solidFill>
                <a:latin typeface="Arial"/>
                <a:ea typeface="Arial"/>
                <a:cs typeface="Arial"/>
              </a:defRPr>
            </a:lvl7pPr>
            <a:lvl8pPr>
              <a:defRPr sz="3225" b="1">
                <a:solidFill>
                  <a:srgbClr val="152C40"/>
                </a:solidFill>
                <a:latin typeface="Arial"/>
                <a:ea typeface="Arial"/>
                <a:cs typeface="Arial"/>
              </a:defRPr>
            </a:lvl8pPr>
            <a:lvl9pPr>
              <a:defRPr sz="3225" b="1">
                <a:solidFill>
                  <a:srgbClr val="152C40"/>
                </a:solidFill>
                <a:latin typeface="Arial"/>
                <a:ea typeface="Arial"/>
                <a:cs typeface="Arial"/>
              </a:defRPr>
            </a:lvl9pPr>
          </a:lstStyle>
          <a:p xmlns:a="http://schemas.openxmlformats.org/drawingml/2006/main">
            <a:pPr>
              <a:defRPr sz="3225" b="1">
                <a:solidFill>
                  <a:srgbClr val="152C40"/>
                </a:solidFill>
                <a:latin typeface="Arial"/>
                <a:ea typeface="Arial"/>
                <a:cs typeface="Arial"/>
              </a:defRPr>
            </a:pPr>
            <a:r>
              <a:rPr sz="3225" b="1">
                <a:solidFill>
                  <a:srgbClr val="152C40"/>
                </a:solidFill>
                <a:latin typeface="Arial"/>
                <a:ea typeface="Arial"/>
                <a:cs typeface="Arial"/>
              </a:rPr>
              <a:t>La siguiente decisión es validar antes de escalar</a:t>
            </a:r>
          </a:p>
        </p:txBody>
      </p:sp>
      <p:sp>
        <p:nvSpPr>
          <p:cNvPr id="2" name="">
            <a:extLst xmlns:a="http://schemas.openxmlformats.org/drawingml/2006/main">
              <a:ext uri="{FF2B5EF4-FFF2-40B4-BE49-F238E27FC236}">
                <a16:creationId xmlns:a16="http://schemas.microsoft.com/office/drawing/2014/main" id="{E4C287D5-8D8A-48AE-8B2E-A6E5B5FC9211}"/>
              </a:ext>
            </a:extLst>
          </p:cNvPr>
          <p:cNvSpPr>
            <a:spLocks xmlns:a="http://schemas.openxmlformats.org/drawingml/2006/main" noGrp="1"/>
          </p:cNvSpPr>
          <p:nvPr/>
        </p:nvSpPr>
        <p:spPr>
          <a:xfrm xmlns:a="http://schemas.openxmlformats.org/drawingml/2006/main">
            <a:off x="685800" y="1543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La preparación permite repetir el análisis. La evidencia actual pide mejorar la señal antes de activar el modelo.</a:t>
            </a:r>
          </a:p>
        </p:txBody>
      </p:sp>
      <p:sp>
        <p:nvSpPr>
          <p:cNvPr id="3" name="">
            <a:extLst xmlns:a="http://schemas.openxmlformats.org/drawingml/2006/main">
              <a:ext uri="{FF2B5EF4-FFF2-40B4-BE49-F238E27FC236}">
                <a16:creationId xmlns:a16="http://schemas.microsoft.com/office/drawing/2014/main" id="{37B891A2-981B-4A77-AEDE-FFA4C31A369D}"/>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Adianet Hurtado Quispe</a:t>
            </a:r>
          </a:p>
        </p:txBody>
      </p:sp>
      <p:sp>
        <p:nvSpPr>
          <p:cNvPr id="4" name="">
            <a:extLst xmlns:a="http://schemas.openxmlformats.org/drawingml/2006/main">
              <a:ext uri="{FF2B5EF4-FFF2-40B4-BE49-F238E27FC236}">
                <a16:creationId xmlns:a16="http://schemas.microsoft.com/office/drawing/2014/main" id="{34640033-7E0A-44CE-8274-3DD2D0947704}"/>
              </a:ext>
            </a:extLst>
          </p:cNvPr>
          <p:cNvSpPr>
            <a:spLocks xmlns:a="http://schemas.openxmlformats.org/drawingml/2006/main" noGrp="1"/>
          </p:cNvSpPr>
          <p:nvPr/>
        </p:nvSpPr>
        <p:spPr>
          <a:xfrm xmlns:a="http://schemas.openxmlformats.org/drawingml/2006/main">
            <a:off x="11144250" y="64293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5"/>
                </a:solidFill>
                <a:latin typeface="Arial"/>
                <a:ea typeface="Arial"/>
                <a:cs typeface="Arial"/>
              </a:defRPr>
            </a:defPPr>
            <a:lvl1pPr>
              <a:defRPr sz="1125" b="0">
                <a:solidFill>
                  <a:srgbClr val="526775"/>
                </a:solidFill>
                <a:latin typeface="Arial"/>
                <a:ea typeface="Arial"/>
                <a:cs typeface="Arial"/>
              </a:defRPr>
            </a:lvl1pPr>
            <a:lvl2pPr>
              <a:defRPr sz="1125" b="0">
                <a:solidFill>
                  <a:srgbClr val="526775"/>
                </a:solidFill>
                <a:latin typeface="Arial"/>
                <a:ea typeface="Arial"/>
                <a:cs typeface="Arial"/>
              </a:defRPr>
            </a:lvl2pPr>
            <a:lvl3pPr>
              <a:defRPr sz="1125" b="0">
                <a:solidFill>
                  <a:srgbClr val="526775"/>
                </a:solidFill>
                <a:latin typeface="Arial"/>
                <a:ea typeface="Arial"/>
                <a:cs typeface="Arial"/>
              </a:defRPr>
            </a:lvl3pPr>
            <a:lvl4pPr>
              <a:defRPr sz="1125" b="0">
                <a:solidFill>
                  <a:srgbClr val="526775"/>
                </a:solidFill>
                <a:latin typeface="Arial"/>
                <a:ea typeface="Arial"/>
                <a:cs typeface="Arial"/>
              </a:defRPr>
            </a:lvl4pPr>
            <a:lvl5pPr>
              <a:defRPr sz="1125" b="0">
                <a:solidFill>
                  <a:srgbClr val="526775"/>
                </a:solidFill>
                <a:latin typeface="Arial"/>
                <a:ea typeface="Arial"/>
                <a:cs typeface="Arial"/>
              </a:defRPr>
            </a:lvl5pPr>
            <a:lvl6pPr>
              <a:defRPr sz="1125" b="0">
                <a:solidFill>
                  <a:srgbClr val="526775"/>
                </a:solidFill>
                <a:latin typeface="Arial"/>
                <a:ea typeface="Arial"/>
                <a:cs typeface="Arial"/>
              </a:defRPr>
            </a:lvl6pPr>
            <a:lvl7pPr>
              <a:defRPr sz="1125" b="0">
                <a:solidFill>
                  <a:srgbClr val="526775"/>
                </a:solidFill>
                <a:latin typeface="Arial"/>
                <a:ea typeface="Arial"/>
                <a:cs typeface="Arial"/>
              </a:defRPr>
            </a:lvl7pPr>
            <a:lvl8pPr>
              <a:defRPr sz="1125" b="0">
                <a:solidFill>
                  <a:srgbClr val="526775"/>
                </a:solidFill>
                <a:latin typeface="Arial"/>
                <a:ea typeface="Arial"/>
                <a:cs typeface="Arial"/>
              </a:defRPr>
            </a:lvl8pPr>
            <a:lvl9pPr>
              <a:defRPr sz="1125" b="0">
                <a:solidFill>
                  <a:srgbClr val="526775"/>
                </a:solidFill>
                <a:latin typeface="Arial"/>
                <a:ea typeface="Arial"/>
                <a:cs typeface="Arial"/>
              </a:defRPr>
            </a:lvl9pPr>
          </a:lstStyle>
          <a:p xmlns:a="http://schemas.openxmlformats.org/drawingml/2006/main">
            <a:pPr>
              <a:defRPr sz="1125" b="0">
                <a:solidFill>
                  <a:srgbClr val="526775"/>
                </a:solidFill>
                <a:latin typeface="Arial"/>
                <a:ea typeface="Arial"/>
                <a:cs typeface="Arial"/>
              </a:defRPr>
            </a:pPr>
            <a:r>
              <a:rPr sz="1125" b="0">
                <a:solidFill>
                  <a:srgbClr val="52677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113C9C75-24E4-4E50-A0E1-F045A403A694}"/>
              </a:ext>
            </a:extLst>
          </p:cNvPr>
          <p:cNvSpPr>
            <a:spLocks xmlns:a="http://schemas.openxmlformats.org/drawingml/2006/main" noGrp="1"/>
          </p:cNvSpPr>
          <p:nvPr/>
        </p:nvSpPr>
        <p:spPr>
          <a:xfrm xmlns:a="http://schemas.openxmlformats.org/drawingml/2006/main">
            <a:off x="685800" y="27813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9A315F"/>
                </a:solidFill>
                <a:latin typeface="Arial"/>
                <a:ea typeface="Arial"/>
                <a:cs typeface="Arial"/>
              </a:defRPr>
            </a:defPPr>
            <a:lvl1pPr>
              <a:defRPr sz="3150" b="1">
                <a:solidFill>
                  <a:srgbClr val="9A315F"/>
                </a:solidFill>
                <a:latin typeface="Arial"/>
                <a:ea typeface="Arial"/>
                <a:cs typeface="Arial"/>
              </a:defRPr>
            </a:lvl1pPr>
            <a:lvl2pPr>
              <a:defRPr sz="3150" b="1">
                <a:solidFill>
                  <a:srgbClr val="9A315F"/>
                </a:solidFill>
                <a:latin typeface="Arial"/>
                <a:ea typeface="Arial"/>
                <a:cs typeface="Arial"/>
              </a:defRPr>
            </a:lvl2pPr>
            <a:lvl3pPr>
              <a:defRPr sz="3150" b="1">
                <a:solidFill>
                  <a:srgbClr val="9A315F"/>
                </a:solidFill>
                <a:latin typeface="Arial"/>
                <a:ea typeface="Arial"/>
                <a:cs typeface="Arial"/>
              </a:defRPr>
            </a:lvl3pPr>
            <a:lvl4pPr>
              <a:defRPr sz="3150" b="1">
                <a:solidFill>
                  <a:srgbClr val="9A315F"/>
                </a:solidFill>
                <a:latin typeface="Arial"/>
                <a:ea typeface="Arial"/>
                <a:cs typeface="Arial"/>
              </a:defRPr>
            </a:lvl4pPr>
            <a:lvl5pPr>
              <a:defRPr sz="3150" b="1">
                <a:solidFill>
                  <a:srgbClr val="9A315F"/>
                </a:solidFill>
                <a:latin typeface="Arial"/>
                <a:ea typeface="Arial"/>
                <a:cs typeface="Arial"/>
              </a:defRPr>
            </a:lvl5pPr>
            <a:lvl6pPr>
              <a:defRPr sz="3150" b="1">
                <a:solidFill>
                  <a:srgbClr val="9A315F"/>
                </a:solidFill>
                <a:latin typeface="Arial"/>
                <a:ea typeface="Arial"/>
                <a:cs typeface="Arial"/>
              </a:defRPr>
            </a:lvl6pPr>
            <a:lvl7pPr>
              <a:defRPr sz="3150" b="1">
                <a:solidFill>
                  <a:srgbClr val="9A315F"/>
                </a:solidFill>
                <a:latin typeface="Arial"/>
                <a:ea typeface="Arial"/>
                <a:cs typeface="Arial"/>
              </a:defRPr>
            </a:lvl7pPr>
            <a:lvl8pPr>
              <a:defRPr sz="3150" b="1">
                <a:solidFill>
                  <a:srgbClr val="9A315F"/>
                </a:solidFill>
                <a:latin typeface="Arial"/>
                <a:ea typeface="Arial"/>
                <a:cs typeface="Arial"/>
              </a:defRPr>
            </a:lvl8pPr>
            <a:lvl9pPr>
              <a:defRPr sz="3150" b="1">
                <a:solidFill>
                  <a:srgbClr val="9A315F"/>
                </a:solidFill>
                <a:latin typeface="Arial"/>
                <a:ea typeface="Arial"/>
                <a:cs typeface="Arial"/>
              </a:defRPr>
            </a:lvl9pPr>
          </a:lstStyle>
          <a:p xmlns:a="http://schemas.openxmlformats.org/drawingml/2006/main">
            <a:pPr>
              <a:defRPr sz="3150" b="1">
                <a:solidFill>
                  <a:srgbClr val="9A315F"/>
                </a:solidFill>
                <a:latin typeface="Arial"/>
                <a:ea typeface="Arial"/>
                <a:cs typeface="Arial"/>
              </a:defRPr>
            </a:pPr>
            <a:r>
              <a:rPr sz="3150" b="1">
                <a:solidFill>
                  <a:srgbClr val="9A315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34D0A79-F321-4216-B142-91FB83CB4DAD}"/>
              </a:ext>
            </a:extLst>
          </p:cNvPr>
          <p:cNvSpPr>
            <a:spLocks xmlns:a="http://schemas.openxmlformats.org/drawingml/2006/main" noGrp="1"/>
          </p:cNvSpPr>
          <p:nvPr/>
        </p:nvSpPr>
        <p:spPr>
          <a:xfrm xmlns:a="http://schemas.openxmlformats.org/drawingml/2006/main">
            <a:off x="1866900" y="280035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C40"/>
                </a:solidFill>
                <a:latin typeface="Arial"/>
                <a:ea typeface="Arial"/>
                <a:cs typeface="Arial"/>
              </a:defRPr>
            </a:defPPr>
            <a:lvl1pPr>
              <a:defRPr sz="2400" b="1">
                <a:solidFill>
                  <a:srgbClr val="152C40"/>
                </a:solidFill>
                <a:latin typeface="Arial"/>
                <a:ea typeface="Arial"/>
                <a:cs typeface="Arial"/>
              </a:defRPr>
            </a:lvl1pPr>
            <a:lvl2pPr>
              <a:defRPr sz="2400" b="1">
                <a:solidFill>
                  <a:srgbClr val="152C40"/>
                </a:solidFill>
                <a:latin typeface="Arial"/>
                <a:ea typeface="Arial"/>
                <a:cs typeface="Arial"/>
              </a:defRPr>
            </a:lvl2pPr>
            <a:lvl3pPr>
              <a:defRPr sz="2400" b="1">
                <a:solidFill>
                  <a:srgbClr val="152C40"/>
                </a:solidFill>
                <a:latin typeface="Arial"/>
                <a:ea typeface="Arial"/>
                <a:cs typeface="Arial"/>
              </a:defRPr>
            </a:lvl3pPr>
            <a:lvl4pPr>
              <a:defRPr sz="2400" b="1">
                <a:solidFill>
                  <a:srgbClr val="152C40"/>
                </a:solidFill>
                <a:latin typeface="Arial"/>
                <a:ea typeface="Arial"/>
                <a:cs typeface="Arial"/>
              </a:defRPr>
            </a:lvl4pPr>
            <a:lvl5pPr>
              <a:defRPr sz="2400" b="1">
                <a:solidFill>
                  <a:srgbClr val="152C40"/>
                </a:solidFill>
                <a:latin typeface="Arial"/>
                <a:ea typeface="Arial"/>
                <a:cs typeface="Arial"/>
              </a:defRPr>
            </a:lvl5pPr>
            <a:lvl6pPr>
              <a:defRPr sz="2400" b="1">
                <a:solidFill>
                  <a:srgbClr val="152C40"/>
                </a:solidFill>
                <a:latin typeface="Arial"/>
                <a:ea typeface="Arial"/>
                <a:cs typeface="Arial"/>
              </a:defRPr>
            </a:lvl6pPr>
            <a:lvl7pPr>
              <a:defRPr sz="2400" b="1">
                <a:solidFill>
                  <a:srgbClr val="152C40"/>
                </a:solidFill>
                <a:latin typeface="Arial"/>
                <a:ea typeface="Arial"/>
                <a:cs typeface="Arial"/>
              </a:defRPr>
            </a:lvl7pPr>
            <a:lvl8pPr>
              <a:defRPr sz="2400" b="1">
                <a:solidFill>
                  <a:srgbClr val="152C40"/>
                </a:solidFill>
                <a:latin typeface="Arial"/>
                <a:ea typeface="Arial"/>
                <a:cs typeface="Arial"/>
              </a:defRPr>
            </a:lvl8pPr>
            <a:lvl9pPr>
              <a:defRPr sz="2400" b="1">
                <a:solidFill>
                  <a:srgbClr val="152C40"/>
                </a:solidFill>
                <a:latin typeface="Arial"/>
                <a:ea typeface="Arial"/>
                <a:cs typeface="Arial"/>
              </a:defRPr>
            </a:lvl9pPr>
          </a:lstStyle>
          <a:p xmlns:a="http://schemas.openxmlformats.org/drawingml/2006/main">
            <a:pPr>
              <a:defRPr sz="2400" b="1">
                <a:solidFill>
                  <a:srgbClr val="152C40"/>
                </a:solidFill>
                <a:latin typeface="Arial"/>
                <a:ea typeface="Arial"/>
                <a:cs typeface="Arial"/>
              </a:defRPr>
            </a:pPr>
            <a:r>
              <a:rPr sz="2400" b="1">
                <a:solidFill>
                  <a:srgbClr val="152C40"/>
                </a:solidFill>
                <a:latin typeface="Arial"/>
                <a:ea typeface="Arial"/>
                <a:cs typeface="Arial"/>
              </a:rPr>
              <a:t>Acordar qué compra importa al negocio</a:t>
            </a:r>
          </a:p>
        </p:txBody>
      </p:sp>
      <p:sp>
        <p:nvSpPr>
          <p:cNvPr id="7" name="">
            <a:extLst xmlns:a="http://schemas.openxmlformats.org/drawingml/2006/main">
              <a:ext uri="{FF2B5EF4-FFF2-40B4-BE49-F238E27FC236}">
                <a16:creationId xmlns:a16="http://schemas.microsoft.com/office/drawing/2014/main" id="{3A9FD08C-413D-40F0-A194-9E3B0D977351}"/>
              </a:ext>
            </a:extLst>
          </p:cNvPr>
          <p:cNvSpPr>
            <a:spLocks xmlns:a="http://schemas.openxmlformats.org/drawingml/2006/main" noGrp="1"/>
          </p:cNvSpPr>
          <p:nvPr/>
        </p:nvSpPr>
        <p:spPr>
          <a:xfrm xmlns:a="http://schemas.openxmlformats.org/drawingml/2006/main">
            <a:off x="1866900" y="338137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Orden creada, compra pagada o ingreso neto después de devoluciones.</a:t>
            </a:r>
          </a:p>
        </p:txBody>
      </p:sp>
      <p:sp>
        <p:nvSpPr>
          <p:cNvPr id="8" name="">
            <a:extLst xmlns:a="http://schemas.openxmlformats.org/drawingml/2006/main">
              <a:ext uri="{FF2B5EF4-FFF2-40B4-BE49-F238E27FC236}">
                <a16:creationId xmlns:a16="http://schemas.microsoft.com/office/drawing/2014/main" id="{CB6F6CB0-45D1-4D88-867B-0BB94CDE76D6}"/>
              </a:ext>
            </a:extLst>
          </p:cNvPr>
          <p:cNvSpPr>
            <a:spLocks xmlns:a="http://schemas.openxmlformats.org/drawingml/2006/main" noGrp="1"/>
          </p:cNvSpPr>
          <p:nvPr/>
        </p:nvSpPr>
        <p:spPr>
          <a:xfrm xmlns:a="http://schemas.openxmlformats.org/drawingml/2006/main">
            <a:off x="685800" y="41338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9A315F"/>
                </a:solidFill>
                <a:latin typeface="Arial"/>
                <a:ea typeface="Arial"/>
                <a:cs typeface="Arial"/>
              </a:defRPr>
            </a:defPPr>
            <a:lvl1pPr>
              <a:defRPr sz="3150" b="1">
                <a:solidFill>
                  <a:srgbClr val="9A315F"/>
                </a:solidFill>
                <a:latin typeface="Arial"/>
                <a:ea typeface="Arial"/>
                <a:cs typeface="Arial"/>
              </a:defRPr>
            </a:lvl1pPr>
            <a:lvl2pPr>
              <a:defRPr sz="3150" b="1">
                <a:solidFill>
                  <a:srgbClr val="9A315F"/>
                </a:solidFill>
                <a:latin typeface="Arial"/>
                <a:ea typeface="Arial"/>
                <a:cs typeface="Arial"/>
              </a:defRPr>
            </a:lvl2pPr>
            <a:lvl3pPr>
              <a:defRPr sz="3150" b="1">
                <a:solidFill>
                  <a:srgbClr val="9A315F"/>
                </a:solidFill>
                <a:latin typeface="Arial"/>
                <a:ea typeface="Arial"/>
                <a:cs typeface="Arial"/>
              </a:defRPr>
            </a:lvl3pPr>
            <a:lvl4pPr>
              <a:defRPr sz="3150" b="1">
                <a:solidFill>
                  <a:srgbClr val="9A315F"/>
                </a:solidFill>
                <a:latin typeface="Arial"/>
                <a:ea typeface="Arial"/>
                <a:cs typeface="Arial"/>
              </a:defRPr>
            </a:lvl4pPr>
            <a:lvl5pPr>
              <a:defRPr sz="3150" b="1">
                <a:solidFill>
                  <a:srgbClr val="9A315F"/>
                </a:solidFill>
                <a:latin typeface="Arial"/>
                <a:ea typeface="Arial"/>
                <a:cs typeface="Arial"/>
              </a:defRPr>
            </a:lvl5pPr>
            <a:lvl6pPr>
              <a:defRPr sz="3150" b="1">
                <a:solidFill>
                  <a:srgbClr val="9A315F"/>
                </a:solidFill>
                <a:latin typeface="Arial"/>
                <a:ea typeface="Arial"/>
                <a:cs typeface="Arial"/>
              </a:defRPr>
            </a:lvl6pPr>
            <a:lvl7pPr>
              <a:defRPr sz="3150" b="1">
                <a:solidFill>
                  <a:srgbClr val="9A315F"/>
                </a:solidFill>
                <a:latin typeface="Arial"/>
                <a:ea typeface="Arial"/>
                <a:cs typeface="Arial"/>
              </a:defRPr>
            </a:lvl7pPr>
            <a:lvl8pPr>
              <a:defRPr sz="3150" b="1">
                <a:solidFill>
                  <a:srgbClr val="9A315F"/>
                </a:solidFill>
                <a:latin typeface="Arial"/>
                <a:ea typeface="Arial"/>
                <a:cs typeface="Arial"/>
              </a:defRPr>
            </a:lvl8pPr>
            <a:lvl9pPr>
              <a:defRPr sz="3150" b="1">
                <a:solidFill>
                  <a:srgbClr val="9A315F"/>
                </a:solidFill>
                <a:latin typeface="Arial"/>
                <a:ea typeface="Arial"/>
                <a:cs typeface="Arial"/>
              </a:defRPr>
            </a:lvl9pPr>
          </a:lstStyle>
          <a:p xmlns:a="http://schemas.openxmlformats.org/drawingml/2006/main">
            <a:pPr>
              <a:defRPr sz="3150" b="1">
                <a:solidFill>
                  <a:srgbClr val="9A315F"/>
                </a:solidFill>
                <a:latin typeface="Arial"/>
                <a:ea typeface="Arial"/>
                <a:cs typeface="Arial"/>
              </a:defRPr>
            </a:pPr>
            <a:r>
              <a:rPr sz="3150" b="1">
                <a:solidFill>
                  <a:srgbClr val="9A315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ADCB675-D305-494D-899A-488F4434CA92}"/>
              </a:ext>
            </a:extLst>
          </p:cNvPr>
          <p:cNvSpPr>
            <a:spLocks xmlns:a="http://schemas.openxmlformats.org/drawingml/2006/main" noGrp="1"/>
          </p:cNvSpPr>
          <p:nvPr/>
        </p:nvSpPr>
        <p:spPr>
          <a:xfrm xmlns:a="http://schemas.openxmlformats.org/drawingml/2006/main">
            <a:off x="1866900" y="415290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C40"/>
                </a:solidFill>
                <a:latin typeface="Arial"/>
                <a:ea typeface="Arial"/>
                <a:cs typeface="Arial"/>
              </a:defRPr>
            </a:defPPr>
            <a:lvl1pPr>
              <a:defRPr sz="2400" b="1">
                <a:solidFill>
                  <a:srgbClr val="152C40"/>
                </a:solidFill>
                <a:latin typeface="Arial"/>
                <a:ea typeface="Arial"/>
                <a:cs typeface="Arial"/>
              </a:defRPr>
            </a:lvl1pPr>
            <a:lvl2pPr>
              <a:defRPr sz="2400" b="1">
                <a:solidFill>
                  <a:srgbClr val="152C40"/>
                </a:solidFill>
                <a:latin typeface="Arial"/>
                <a:ea typeface="Arial"/>
                <a:cs typeface="Arial"/>
              </a:defRPr>
            </a:lvl2pPr>
            <a:lvl3pPr>
              <a:defRPr sz="2400" b="1">
                <a:solidFill>
                  <a:srgbClr val="152C40"/>
                </a:solidFill>
                <a:latin typeface="Arial"/>
                <a:ea typeface="Arial"/>
                <a:cs typeface="Arial"/>
              </a:defRPr>
            </a:lvl3pPr>
            <a:lvl4pPr>
              <a:defRPr sz="2400" b="1">
                <a:solidFill>
                  <a:srgbClr val="152C40"/>
                </a:solidFill>
                <a:latin typeface="Arial"/>
                <a:ea typeface="Arial"/>
                <a:cs typeface="Arial"/>
              </a:defRPr>
            </a:lvl4pPr>
            <a:lvl5pPr>
              <a:defRPr sz="2400" b="1">
                <a:solidFill>
                  <a:srgbClr val="152C40"/>
                </a:solidFill>
                <a:latin typeface="Arial"/>
                <a:ea typeface="Arial"/>
                <a:cs typeface="Arial"/>
              </a:defRPr>
            </a:lvl5pPr>
            <a:lvl6pPr>
              <a:defRPr sz="2400" b="1">
                <a:solidFill>
                  <a:srgbClr val="152C40"/>
                </a:solidFill>
                <a:latin typeface="Arial"/>
                <a:ea typeface="Arial"/>
                <a:cs typeface="Arial"/>
              </a:defRPr>
            </a:lvl6pPr>
            <a:lvl7pPr>
              <a:defRPr sz="2400" b="1">
                <a:solidFill>
                  <a:srgbClr val="152C40"/>
                </a:solidFill>
                <a:latin typeface="Arial"/>
                <a:ea typeface="Arial"/>
                <a:cs typeface="Arial"/>
              </a:defRPr>
            </a:lvl7pPr>
            <a:lvl8pPr>
              <a:defRPr sz="2400" b="1">
                <a:solidFill>
                  <a:srgbClr val="152C40"/>
                </a:solidFill>
                <a:latin typeface="Arial"/>
                <a:ea typeface="Arial"/>
                <a:cs typeface="Arial"/>
              </a:defRPr>
            </a:lvl8pPr>
            <a:lvl9pPr>
              <a:defRPr sz="2400" b="1">
                <a:solidFill>
                  <a:srgbClr val="152C40"/>
                </a:solidFill>
                <a:latin typeface="Arial"/>
                <a:ea typeface="Arial"/>
                <a:cs typeface="Arial"/>
              </a:defRPr>
            </a:lvl9pPr>
          </a:lstStyle>
          <a:p xmlns:a="http://schemas.openxmlformats.org/drawingml/2006/main">
            <a:pPr>
              <a:defRPr sz="2400" b="1">
                <a:solidFill>
                  <a:srgbClr val="152C40"/>
                </a:solidFill>
                <a:latin typeface="Arial"/>
                <a:ea typeface="Arial"/>
                <a:cs typeface="Arial"/>
              </a:defRPr>
            </a:pPr>
            <a:r>
              <a:rPr sz="2400" b="1">
                <a:solidFill>
                  <a:srgbClr val="152C40"/>
                </a:solidFill>
                <a:latin typeface="Arial"/>
                <a:ea typeface="Arial"/>
                <a:cs typeface="Arial"/>
              </a:rPr>
              <a:t>Mejorar la información de la primera compra</a:t>
            </a:r>
          </a:p>
        </p:txBody>
      </p:sp>
      <p:sp>
        <p:nvSpPr>
          <p:cNvPr id="10" name="">
            <a:extLst xmlns:a="http://schemas.openxmlformats.org/drawingml/2006/main">
              <a:ext uri="{FF2B5EF4-FFF2-40B4-BE49-F238E27FC236}">
                <a16:creationId xmlns:a16="http://schemas.microsoft.com/office/drawing/2014/main" id="{4C2E504F-A732-4B2D-A26D-FBAB94F60A07}"/>
              </a:ext>
            </a:extLst>
          </p:cNvPr>
          <p:cNvSpPr>
            <a:spLocks xmlns:a="http://schemas.openxmlformats.org/drawingml/2006/main" noGrp="1"/>
          </p:cNvSpPr>
          <p:nvPr/>
        </p:nvSpPr>
        <p:spPr>
          <a:xfrm xmlns:a="http://schemas.openxmlformats.org/drawingml/2006/main">
            <a:off x="1866900" y="473392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775"/>
                </a:solidFill>
                <a:latin typeface="Arial"/>
                <a:ea typeface="Arial"/>
                <a:cs typeface="Arial"/>
              </a:defRPr>
            </a:defPPr>
            <a:lvl1pPr>
              <a:defRPr sz="2025" b="0">
                <a:solidFill>
                  <a:srgbClr val="526775"/>
                </a:solidFill>
                <a:latin typeface="Arial"/>
                <a:ea typeface="Arial"/>
                <a:cs typeface="Arial"/>
              </a:defRPr>
            </a:lvl1pPr>
            <a:lvl2pPr>
              <a:defRPr sz="2025" b="0">
                <a:solidFill>
                  <a:srgbClr val="526775"/>
                </a:solidFill>
                <a:latin typeface="Arial"/>
                <a:ea typeface="Arial"/>
                <a:cs typeface="Arial"/>
              </a:defRPr>
            </a:lvl2pPr>
            <a:lvl3pPr>
              <a:defRPr sz="2025" b="0">
                <a:solidFill>
                  <a:srgbClr val="526775"/>
                </a:solidFill>
                <a:latin typeface="Arial"/>
                <a:ea typeface="Arial"/>
                <a:cs typeface="Arial"/>
              </a:defRPr>
            </a:lvl3pPr>
            <a:lvl4pPr>
              <a:defRPr sz="2025" b="0">
                <a:solidFill>
                  <a:srgbClr val="526775"/>
                </a:solidFill>
                <a:latin typeface="Arial"/>
                <a:ea typeface="Arial"/>
                <a:cs typeface="Arial"/>
              </a:defRPr>
            </a:lvl4pPr>
            <a:lvl5pPr>
              <a:defRPr sz="2025" b="0">
                <a:solidFill>
                  <a:srgbClr val="526775"/>
                </a:solidFill>
                <a:latin typeface="Arial"/>
                <a:ea typeface="Arial"/>
                <a:cs typeface="Arial"/>
              </a:defRPr>
            </a:lvl5pPr>
            <a:lvl6pPr>
              <a:defRPr sz="2025" b="0">
                <a:solidFill>
                  <a:srgbClr val="526775"/>
                </a:solidFill>
                <a:latin typeface="Arial"/>
                <a:ea typeface="Arial"/>
                <a:cs typeface="Arial"/>
              </a:defRPr>
            </a:lvl6pPr>
            <a:lvl7pPr>
              <a:defRPr sz="2025" b="0">
                <a:solidFill>
                  <a:srgbClr val="526775"/>
                </a:solidFill>
                <a:latin typeface="Arial"/>
                <a:ea typeface="Arial"/>
                <a:cs typeface="Arial"/>
              </a:defRPr>
            </a:lvl7pPr>
            <a:lvl8pPr>
              <a:defRPr sz="2025" b="0">
                <a:solidFill>
                  <a:srgbClr val="526775"/>
                </a:solidFill>
                <a:latin typeface="Arial"/>
                <a:ea typeface="Arial"/>
                <a:cs typeface="Arial"/>
              </a:defRPr>
            </a:lvl8pPr>
            <a:lvl9pPr>
              <a:defRPr sz="2025" b="0">
                <a:solidFill>
                  <a:srgbClr val="526775"/>
                </a:solidFill>
                <a:latin typeface="Arial"/>
                <a:ea typeface="Arial"/>
                <a:cs typeface="Arial"/>
              </a:defRPr>
            </a:lvl9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Comprobar qué señales añaden valor en clientes de períodos posteriores.</a:t>
            </a:r>
          </a:p>
        </p:txBody>
      </p:sp>
      <p:sp>
        <p:nvSpPr>
          <p:cNvPr id="11" name="">
            <a:extLst xmlns:a="http://schemas.openxmlformats.org/drawingml/2006/main">
              <a:ext uri="{FF2B5EF4-FFF2-40B4-BE49-F238E27FC236}">
                <a16:creationId xmlns:a16="http://schemas.microsoft.com/office/drawing/2014/main" id="{A640E9D6-3251-49E8-B6C1-8646AC5A1460}"/>
              </a:ext>
            </a:extLst>
          </p:cNvPr>
          <p:cNvSpPr>
            <a:spLocks xmlns:a="http://schemas.openxmlformats.org/drawingml/2006/main" noGrp="1"/>
          </p:cNvSpPr>
          <p:nvPr/>
        </p:nvSpPr>
        <p:spPr>
          <a:xfrm xmlns:a="http://schemas.openxmlformats.org/drawingml/2006/main">
            <a:off x="685800" y="54864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9A315F"/>
                </a:solidFill>
                <a:latin typeface="Arial"/>
                <a:ea typeface="Arial"/>
                <a:cs typeface="Arial"/>
              </a:defRPr>
            </a:defPPr>
            <a:lvl1pPr>
              <a:defRPr sz="3150" b="1">
                <a:solidFill>
                  <a:srgbClr val="9A315F"/>
                </a:solidFill>
                <a:latin typeface="Arial"/>
                <a:ea typeface="Arial"/>
                <a:cs typeface="Arial"/>
              </a:defRPr>
            </a:lvl1pPr>
            <a:lvl2pPr>
              <a:defRPr sz="3150" b="1">
                <a:solidFill>
                  <a:srgbClr val="9A315F"/>
                </a:solidFill>
                <a:latin typeface="Arial"/>
                <a:ea typeface="Arial"/>
                <a:cs typeface="Arial"/>
              </a:defRPr>
            </a:lvl2pPr>
            <a:lvl3pPr>
              <a:defRPr sz="3150" b="1">
                <a:solidFill>
                  <a:srgbClr val="9A315F"/>
                </a:solidFill>
                <a:latin typeface="Arial"/>
                <a:ea typeface="Arial"/>
                <a:cs typeface="Arial"/>
              </a:defRPr>
            </a:lvl3pPr>
            <a:lvl4pPr>
              <a:defRPr sz="3150" b="1">
                <a:solidFill>
                  <a:srgbClr val="9A315F"/>
                </a:solidFill>
                <a:latin typeface="Arial"/>
                <a:ea typeface="Arial"/>
                <a:cs typeface="Arial"/>
              </a:defRPr>
            </a:lvl4pPr>
            <a:lvl5pPr>
              <a:defRPr sz="3150" b="1">
                <a:solidFill>
                  <a:srgbClr val="9A315F"/>
                </a:solidFill>
                <a:latin typeface="Arial"/>
                <a:ea typeface="Arial"/>
                <a:cs typeface="Arial"/>
              </a:defRPr>
            </a:lvl5pPr>
            <a:lvl6pPr>
              <a:defRPr sz="3150" b="1">
                <a:solidFill>
                  <a:srgbClr val="9A315F"/>
                </a:solidFill>
                <a:latin typeface="Arial"/>
                <a:ea typeface="Arial"/>
                <a:cs typeface="Arial"/>
              </a:defRPr>
            </a:lvl6pPr>
            <a:lvl7pPr>
              <a:defRPr sz="3150" b="1">
                <a:solidFill>
                  <a:srgbClr val="9A315F"/>
                </a:solidFill>
                <a:latin typeface="Arial"/>
                <a:ea typeface="Arial"/>
                <a:cs typeface="Arial"/>
              </a:defRPr>
            </a:lvl7pPr>
            <a:lvl8pPr>
              <a:defRPr sz="3150" b="1">
                <a:solidFill>
                  <a:srgbClr val="9A315F"/>
                </a:solidFill>
                <a:latin typeface="Arial"/>
                <a:ea typeface="Arial"/>
                <a:cs typeface="Arial"/>
              </a:defRPr>
            </a:lvl8pPr>
            <a:lvl9pPr>
              <a:defRPr sz="3150" b="1">
                <a:solidFill>
                  <a:srgbClr val="9A315F"/>
                </a:solidFill>
                <a:latin typeface="Arial"/>
                <a:ea typeface="Arial"/>
                <a:cs typeface="Arial"/>
              </a:defRPr>
            </a:lvl9pPr>
          </a:lstStyle>
          <a:p xmlns:a="http://schemas.openxmlformats.org/drawingml/2006/main">
            <a:pPr>
              <a:defRPr sz="3150" b="1">
                <a:solidFill>
                  <a:srgbClr val="9A315F"/>
                </a:solidFill>
                <a:latin typeface="Arial"/>
                <a:ea typeface="Arial"/>
                <a:cs typeface="Arial"/>
              </a:defRPr>
            </a:pPr>
            <a:r>
              <a:rPr sz="3150" b="1">
                <a:solidFill>
                  <a:srgbClr val="9A315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E76CCAD-6611-4C9B-8C3D-A13356973CA6}"/>
              </a:ext>
            </a:extLst>
          </p:cNvPr>
          <p:cNvSpPr>
            <a:spLocks xmlns:a="http://schemas.openxmlformats.org/drawingml/2006/main" noGrp="1"/>
          </p:cNvSpPr>
          <p:nvPr/>
        </p:nvSpPr>
        <p:spPr>
          <a:xfrm xmlns:a="http://schemas.openxmlformats.org/drawingml/2006/main">
            <a:off x="1866900" y="550545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C40"/>
                </a:solidFill>
                <a:latin typeface="Arial"/>
                <a:ea typeface="Arial"/>
                <a:cs typeface="Arial"/>
              </a:defRPr>
            </a:defPPr>
            <a:lvl1pPr>
              <a:defRPr sz="2400" b="1">
                <a:solidFill>
                  <a:srgbClr val="152C40"/>
                </a:solidFill>
                <a:latin typeface="Arial"/>
                <a:ea typeface="Arial"/>
                <a:cs typeface="Arial"/>
              </a:defRPr>
            </a:lvl1pPr>
            <a:lvl2pPr>
              <a:defRPr sz="2400" b="1">
                <a:solidFill>
                  <a:srgbClr val="152C40"/>
                </a:solidFill>
                <a:latin typeface="Arial"/>
                <a:ea typeface="Arial"/>
                <a:cs typeface="Arial"/>
              </a:defRPr>
            </a:lvl2pPr>
            <a:lvl3pPr>
              <a:defRPr sz="2400" b="1">
                <a:solidFill>
                  <a:srgbClr val="152C40"/>
                </a:solidFill>
                <a:latin typeface="Arial"/>
                <a:ea typeface="Arial"/>
                <a:cs typeface="Arial"/>
              </a:defRPr>
            </a:lvl3pPr>
            <a:lvl4pPr>
              <a:defRPr sz="2400" b="1">
                <a:solidFill>
                  <a:srgbClr val="152C40"/>
                </a:solidFill>
                <a:latin typeface="Arial"/>
                <a:ea typeface="Arial"/>
                <a:cs typeface="Arial"/>
              </a:defRPr>
            </a:lvl4pPr>
            <a:lvl5pPr>
              <a:defRPr sz="2400" b="1">
                <a:solidFill>
                  <a:srgbClr val="152C40"/>
                </a:solidFill>
                <a:latin typeface="Arial"/>
                <a:ea typeface="Arial"/>
                <a:cs typeface="Arial"/>
              </a:defRPr>
            </a:lvl5pPr>
            <a:lvl6pPr>
              <a:defRPr sz="2400" b="1">
                <a:solidFill>
                  <a:srgbClr val="152C40"/>
                </a:solidFill>
                <a:latin typeface="Arial"/>
                <a:ea typeface="Arial"/>
                <a:cs typeface="Arial"/>
              </a:defRPr>
            </a:lvl6pPr>
            <a:lvl7pPr>
              <a:defRPr sz="2400" b="1">
                <a:solidFill>
                  <a:srgbClr val="152C40"/>
                </a:solidFill>
                <a:latin typeface="Arial"/>
                <a:ea typeface="Arial"/>
                <a:cs typeface="Arial"/>
              </a:defRPr>
            </a:lvl7pPr>
            <a:lvl8pPr>
              <a:defRPr sz="2400" b="1">
                <a:solidFill>
                  <a:srgbClr val="152C40"/>
                </a:solidFill>
                <a:latin typeface="Arial"/>
                <a:ea typeface="Arial"/>
                <a:cs typeface="Arial"/>
              </a:defRPr>
            </a:lvl8pPr>
            <a:lvl9pPr>
              <a:defRPr sz="2400" b="1">
                <a:solidFill>
                  <a:srgbClr val="152C40"/>
                </a:solidFill>
                <a:latin typeface="Arial"/>
                <a:ea typeface="Arial"/>
                <a:cs typeface="Arial"/>
              </a:defRPr>
            </a:lvl9pPr>
          </a:lstStyle>
          <a:p xmlns:a="http://schemas.openxmlformats.org/drawingml/2006/main">
            <a:pPr>
              <a:defRPr sz="2400" b="1">
                <a:solidFill>
                  <a:srgbClr val="152C40"/>
                </a:solidFill>
                <a:latin typeface="Arial"/>
                <a:ea typeface="Arial"/>
                <a:cs typeface="Arial"/>
              </a:defRPr>
            </a:pPr>
            <a:r>
              <a:rPr sz="2400" b="1">
                <a:solidFill>
                  <a:srgbClr val="152C40"/>
                </a:solidFill>
                <a:latin typeface="Arial"/>
                <a:ea typeface="Arial"/>
                <a:cs typeface="Arial"/>
              </a:rPr>
              <a:t>Medir el impacto antes de ampliar la campaña</a:t>
            </a:r>
          </a:p>
        </p:txBody>
      </p:sp>
      <p:sp>
        <p:nvSpPr>
          <p:cNvPr id="13" name="">
            <a:extLst xmlns:a="http://schemas.openxmlformats.org/drawingml/2006/main">
              <a:ext uri="{FF2B5EF4-FFF2-40B4-BE49-F238E27FC236}">
                <a16:creationId xmlns:a16="http://schemas.microsoft.com/office/drawing/2014/main" id="{C5F60F2A-4C8E-4184-AC88-50AD102B7061}"/>
              </a:ext>
            </a:extLst>
          </p:cNvPr>
          <p:cNvSpPr>
            <a:spLocks xmlns:a="http://schemas.openxmlformats.org/drawingml/2006/main" noGrp="1"/>
          </p:cNvSpPr>
          <p:nvPr/>
        </p:nvSpPr>
        <p:spPr>
          <a:xfrm xmlns:a="http://schemas.openxmlformats.org/drawingml/2006/main">
            <a:off x="1866900" y="6057900"/>
            <a:ext cx="942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5"/>
                </a:solidFill>
                <a:latin typeface="Arial"/>
                <a:ea typeface="Arial"/>
                <a:cs typeface="Arial"/>
              </a:defRPr>
            </a:defPPr>
            <a:lvl1pPr>
              <a:defRPr sz="1875" b="0">
                <a:solidFill>
                  <a:srgbClr val="526775"/>
                </a:solidFill>
                <a:latin typeface="Arial"/>
                <a:ea typeface="Arial"/>
                <a:cs typeface="Arial"/>
              </a:defRPr>
            </a:lvl1pPr>
            <a:lvl2pPr>
              <a:defRPr sz="1875" b="0">
                <a:solidFill>
                  <a:srgbClr val="526775"/>
                </a:solidFill>
                <a:latin typeface="Arial"/>
                <a:ea typeface="Arial"/>
                <a:cs typeface="Arial"/>
              </a:defRPr>
            </a:lvl2pPr>
            <a:lvl3pPr>
              <a:defRPr sz="1875" b="0">
                <a:solidFill>
                  <a:srgbClr val="526775"/>
                </a:solidFill>
                <a:latin typeface="Arial"/>
                <a:ea typeface="Arial"/>
                <a:cs typeface="Arial"/>
              </a:defRPr>
            </a:lvl3pPr>
            <a:lvl4pPr>
              <a:defRPr sz="1875" b="0">
                <a:solidFill>
                  <a:srgbClr val="526775"/>
                </a:solidFill>
                <a:latin typeface="Arial"/>
                <a:ea typeface="Arial"/>
                <a:cs typeface="Arial"/>
              </a:defRPr>
            </a:lvl4pPr>
            <a:lvl5pPr>
              <a:defRPr sz="1875" b="0">
                <a:solidFill>
                  <a:srgbClr val="526775"/>
                </a:solidFill>
                <a:latin typeface="Arial"/>
                <a:ea typeface="Arial"/>
                <a:cs typeface="Arial"/>
              </a:defRPr>
            </a:lvl5pPr>
            <a:lvl6pPr>
              <a:defRPr sz="1875" b="0">
                <a:solidFill>
                  <a:srgbClr val="526775"/>
                </a:solidFill>
                <a:latin typeface="Arial"/>
                <a:ea typeface="Arial"/>
                <a:cs typeface="Arial"/>
              </a:defRPr>
            </a:lvl6pPr>
            <a:lvl7pPr>
              <a:defRPr sz="1875" b="0">
                <a:solidFill>
                  <a:srgbClr val="526775"/>
                </a:solidFill>
                <a:latin typeface="Arial"/>
                <a:ea typeface="Arial"/>
                <a:cs typeface="Arial"/>
              </a:defRPr>
            </a:lvl7pPr>
            <a:lvl8pPr>
              <a:defRPr sz="1875" b="0">
                <a:solidFill>
                  <a:srgbClr val="526775"/>
                </a:solidFill>
                <a:latin typeface="Arial"/>
                <a:ea typeface="Arial"/>
                <a:cs typeface="Arial"/>
              </a:defRPr>
            </a:lvl8pPr>
            <a:lvl9pPr>
              <a:defRPr sz="1875" b="0">
                <a:solidFill>
                  <a:srgbClr val="526775"/>
                </a:solidFill>
                <a:latin typeface="Arial"/>
                <a:ea typeface="Arial"/>
                <a:cs typeface="Arial"/>
              </a:defRPr>
            </a:lvl9pPr>
          </a:lstStyle>
          <a:p xmlns:a="http://schemas.openxmlformats.org/drawingml/2006/main">
            <a:pPr>
              <a:defRPr sz="1875" b="0">
                <a:solidFill>
                  <a:srgbClr val="526775"/>
                </a:solidFill>
                <a:latin typeface="Arial"/>
                <a:ea typeface="Arial"/>
                <a:cs typeface="Arial"/>
              </a:defRPr>
            </a:pPr>
            <a:r>
              <a:rPr sz="1875" b="0">
                <a:solidFill>
                  <a:srgbClr val="526775"/>
                </a:solidFill>
                <a:latin typeface="Arial"/>
                <a:ea typeface="Arial"/>
                <a:cs typeface="Arial"/>
              </a:rPr>
              <a:t>Un piloto con control permitirá decidir con compras y margen adicionales.</a:t>
            </a:r>
          </a:p>
        </p:txBody>
      </p:sp>
    </p:spTree>
    <p:extLst>
      <p:ext uri="{BB962C8B-B14F-4D97-AF65-F5344CB8AC3E}">
        <p14:creationId xmlns:p14="http://schemas.microsoft.com/office/powerpoint/2010/main" val="9465780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2026-10-26T13:46:00.5060000Z</dcterms:created>
  <dcterms:modified xsi:type="dcterms:W3CDTF">2026-10-26T13:46:00.5060000Z</dcterms:modified>
</coreProperties>
</file>